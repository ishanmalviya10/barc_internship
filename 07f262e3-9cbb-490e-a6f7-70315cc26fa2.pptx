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sv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sv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sv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sv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sv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018744" y="1632347"/>
            <a:ext cx="310643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1013"/>
              </a:spcAft>
              <a:buNone/>
            </a:pPr>
            <a:r>
              <a:rPr lang="en-US" sz="790" spc="198" kern="0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BARC INTERNSHIP PRESENTATION</a:t>
            </a:r>
            <a:endParaRPr lang="en-US" sz="790" dirty="0"/>
          </a:p>
        </p:txBody>
      </p:sp>
      <p:sp>
        <p:nvSpPr>
          <p:cNvPr id="6" name="Text 1"/>
          <p:cNvSpPr/>
          <p:nvPr/>
        </p:nvSpPr>
        <p:spPr>
          <a:xfrm>
            <a:off x="592548" y="1849934"/>
            <a:ext cx="7958830" cy="633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1215"/>
              </a:spcAft>
              <a:buNone/>
            </a:pPr>
            <a:r>
              <a:rPr lang="en-US" sz="3740" b="1" spc="-75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Post-Quantum and Classical</a:t>
            </a:r>
            <a:endParaRPr lang="en-US" sz="3740" dirty="0"/>
          </a:p>
        </p:txBody>
      </p:sp>
      <p:sp>
        <p:nvSpPr>
          <p:cNvPr id="7" name="Text 2"/>
          <p:cNvSpPr/>
          <p:nvPr/>
        </p:nvSpPr>
        <p:spPr>
          <a:xfrm>
            <a:off x="2601136" y="2382441"/>
            <a:ext cx="3941579" cy="633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1215"/>
              </a:spcAft>
              <a:buNone/>
            </a:pPr>
            <a:r>
              <a:rPr lang="en-US" sz="3740" b="1" spc="-75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Cryptography</a:t>
            </a:r>
            <a:endParaRPr lang="en-US" sz="374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288" y="3121596"/>
            <a:ext cx="733425" cy="476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88899" y="3299668"/>
            <a:ext cx="776612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0" spc="13" kern="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Theoretical Foundations, Algorithmic Insight, and Comparative Benchmarking</a:t>
            </a:r>
            <a:endParaRPr lang="en-US" sz="1260" dirty="0"/>
          </a:p>
        </p:txBody>
      </p:sp>
      <p:sp>
        <p:nvSpPr>
          <p:cNvPr id="10" name="Text 4"/>
          <p:cNvSpPr/>
          <p:nvPr/>
        </p:nvSpPr>
        <p:spPr>
          <a:xfrm>
            <a:off x="2974524" y="4815334"/>
            <a:ext cx="31949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Ishan Malviya · Symbiosis Institute of Technology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890" y="228600"/>
            <a:ext cx="6851563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Cryptography Is Entering a New Era</a:t>
            </a:r>
            <a:endParaRPr lang="en-US" sz="2230" dirty="0"/>
          </a:p>
        </p:txBody>
      </p:sp>
      <p:sp>
        <p:nvSpPr>
          <p:cNvPr id="6" name="Shape 2"/>
          <p:cNvSpPr/>
          <p:nvPr/>
        </p:nvSpPr>
        <p:spPr>
          <a:xfrm>
            <a:off x="501886" y="711138"/>
            <a:ext cx="4233863" cy="866775"/>
          </a:xfrm>
          <a:prstGeom prst="roundRect">
            <a:avLst>
              <a:gd name="adj" fmla="val 4396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89707" y="1015901"/>
            <a:ext cx="38100" cy="257175"/>
          </a:xfrm>
          <a:prstGeom prst="roundRect">
            <a:avLst>
              <a:gd name="adj" fmla="val 25000"/>
            </a:avLst>
          </a:prstGeom>
          <a:solidFill>
            <a:srgbClr val="00C2FF"/>
          </a:solidFill>
          <a:ln/>
        </p:spPr>
      </p:sp>
      <p:sp>
        <p:nvSpPr>
          <p:cNvPr id="8" name="Text 4"/>
          <p:cNvSpPr/>
          <p:nvPr/>
        </p:nvSpPr>
        <p:spPr>
          <a:xfrm>
            <a:off x="864171" y="961951"/>
            <a:ext cx="25296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108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Classical public-key security</a:t>
            </a:r>
            <a:endParaRPr lang="en-US" sz="1080" dirty="0"/>
          </a:p>
        </p:txBody>
      </p:sp>
      <p:sp>
        <p:nvSpPr>
          <p:cNvPr id="9" name="Text 5"/>
          <p:cNvSpPr/>
          <p:nvPr/>
        </p:nvSpPr>
        <p:spPr>
          <a:xfrm>
            <a:off x="864171" y="1165473"/>
            <a:ext cx="43015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Rests on integer factoring and discrete logarithm hardness</a:t>
            </a:r>
            <a:endParaRPr lang="en-US" sz="940" dirty="0"/>
          </a:p>
        </p:txBody>
      </p:sp>
      <p:sp>
        <p:nvSpPr>
          <p:cNvPr id="10" name="Shape 6"/>
          <p:cNvSpPr/>
          <p:nvPr/>
        </p:nvSpPr>
        <p:spPr>
          <a:xfrm>
            <a:off x="501886" y="1679637"/>
            <a:ext cx="4233863" cy="866775"/>
          </a:xfrm>
          <a:prstGeom prst="roundRect">
            <a:avLst>
              <a:gd name="adj" fmla="val 4396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89707" y="1984400"/>
            <a:ext cx="38100" cy="257175"/>
          </a:xfrm>
          <a:prstGeom prst="roundRect">
            <a:avLst>
              <a:gd name="adj" fmla="val 25000"/>
            </a:avLst>
          </a:prstGeom>
          <a:solidFill>
            <a:srgbClr val="FF5C5C"/>
          </a:solidFill>
          <a:ln/>
        </p:spPr>
      </p:sp>
      <p:sp>
        <p:nvSpPr>
          <p:cNvPr id="12" name="Text 8"/>
          <p:cNvSpPr/>
          <p:nvPr/>
        </p:nvSpPr>
        <p:spPr>
          <a:xfrm>
            <a:off x="864171" y="1930450"/>
            <a:ext cx="278023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108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Quantum computing: the threat</a:t>
            </a:r>
            <a:endParaRPr lang="en-US" sz="1080" dirty="0"/>
          </a:p>
        </p:txBody>
      </p:sp>
      <p:sp>
        <p:nvSpPr>
          <p:cNvPr id="13" name="Text 9"/>
          <p:cNvSpPr/>
          <p:nvPr/>
        </p:nvSpPr>
        <p:spPr>
          <a:xfrm>
            <a:off x="864171" y="2133972"/>
            <a:ext cx="45259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Shor's algorithm breaks these assumptions in polynomial time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501886" y="2648136"/>
            <a:ext cx="4233863" cy="866775"/>
          </a:xfrm>
          <a:prstGeom prst="roundRect">
            <a:avLst>
              <a:gd name="adj" fmla="val 4396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9707" y="2952899"/>
            <a:ext cx="38100" cy="257175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/>
        </p:spPr>
      </p:sp>
      <p:sp>
        <p:nvSpPr>
          <p:cNvPr id="16" name="Text 12"/>
          <p:cNvSpPr/>
          <p:nvPr/>
        </p:nvSpPr>
        <p:spPr>
          <a:xfrm>
            <a:off x="864171" y="2815828"/>
            <a:ext cx="25393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108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Post-quantum cryptography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864171" y="3019351"/>
            <a:ext cx="4154016" cy="318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Replaces classical schemes with lattice-based hardness</a:t>
            </a:r>
            <a:endParaRPr lang="en-US" sz="940" dirty="0"/>
          </a:p>
          <a:p>
            <a:pPr algn="l" indent="0" marL="0">
              <a:lnSpc>
                <a:spcPts val="1310"/>
              </a:lnSpc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assumptions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501886" y="3616635"/>
            <a:ext cx="4233863" cy="866775"/>
          </a:xfrm>
          <a:prstGeom prst="roundRect">
            <a:avLst>
              <a:gd name="adj" fmla="val 4396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9707" y="3921398"/>
            <a:ext cx="38100" cy="257175"/>
          </a:xfrm>
          <a:prstGeom prst="roundRect">
            <a:avLst>
              <a:gd name="adj" fmla="val 25000"/>
            </a:avLst>
          </a:prstGeom>
          <a:solidFill>
            <a:srgbClr val="20E3B2"/>
          </a:solidFill>
          <a:ln/>
        </p:spPr>
      </p:sp>
      <p:sp>
        <p:nvSpPr>
          <p:cNvPr id="20" name="Text 16"/>
          <p:cNvSpPr/>
          <p:nvPr/>
        </p:nvSpPr>
        <p:spPr>
          <a:xfrm>
            <a:off x="864171" y="3867448"/>
            <a:ext cx="193812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108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Transition is underway</a:t>
            </a:r>
            <a:endParaRPr lang="en-US" sz="1080" dirty="0"/>
          </a:p>
        </p:txBody>
      </p:sp>
      <p:sp>
        <p:nvSpPr>
          <p:cNvPr id="21" name="Text 17"/>
          <p:cNvSpPr/>
          <p:nvPr/>
        </p:nvSpPr>
        <p:spPr>
          <a:xfrm>
            <a:off x="864171" y="4070970"/>
            <a:ext cx="461187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NIST has standardized ML-KEM and ML-DSA for production use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5101530" y="1154050"/>
            <a:ext cx="3538538" cy="585788"/>
          </a:xfrm>
          <a:prstGeom prst="roundRect">
            <a:avLst>
              <a:gd name="adj" fmla="val 9756"/>
            </a:avLst>
          </a:prstGeom>
          <a:solidFill>
            <a:srgbClr val="00C2FF">
              <a:alpha val="10000"/>
            </a:srgbClr>
          </a:solidFill>
          <a:ln w="4763">
            <a:solidFill>
              <a:srgbClr val="00C2FF">
                <a:alpha val="3500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119" y="1346374"/>
            <a:ext cx="201141" cy="20114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68641" y="1286321"/>
            <a:ext cx="200304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Classical Cryptography</a:t>
            </a:r>
            <a:endParaRPr lang="en-US" sz="1040" dirty="0"/>
          </a:p>
        </p:txBody>
      </p:sp>
      <p:sp>
        <p:nvSpPr>
          <p:cNvPr id="25" name="Text 20"/>
          <p:cNvSpPr/>
          <p:nvPr/>
        </p:nvSpPr>
        <p:spPr>
          <a:xfrm>
            <a:off x="6268641" y="1480468"/>
            <a:ext cx="12070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RSA · ECC · ECDSA</a:t>
            </a:r>
            <a:endParaRPr lang="en-US" sz="790" dirty="0"/>
          </a:p>
        </p:txBody>
      </p:sp>
      <p:sp>
        <p:nvSpPr>
          <p:cNvPr id="26" name="Shape 21"/>
          <p:cNvSpPr/>
          <p:nvPr/>
        </p:nvSpPr>
        <p:spPr>
          <a:xfrm>
            <a:off x="6868418" y="1815852"/>
            <a:ext cx="4763" cy="104775"/>
          </a:xfrm>
          <a:prstGeom prst="rect">
            <a:avLst/>
          </a:prstGeom>
          <a:solidFill>
            <a:srgbClr val="FF5C5C">
              <a:alpha val="60000"/>
            </a:srgbClr>
          </a:solidFill>
          <a:ln/>
        </p:spPr>
      </p:sp>
      <p:sp>
        <p:nvSpPr>
          <p:cNvPr id="27" name="Shape 22"/>
          <p:cNvSpPr/>
          <p:nvPr/>
        </p:nvSpPr>
        <p:spPr>
          <a:xfrm>
            <a:off x="6268343" y="1919697"/>
            <a:ext cx="1204913" cy="204787"/>
          </a:xfrm>
          <a:prstGeom prst="roundRect">
            <a:avLst>
              <a:gd name="adj" fmla="val 9302"/>
            </a:avLst>
          </a:prstGeom>
          <a:solidFill>
            <a:srgbClr val="FF5C5C">
              <a:alpha val="10000"/>
            </a:srgbClr>
          </a:solidFill>
          <a:ln w="4763">
            <a:solidFill>
              <a:srgbClr val="FF5C5C">
                <a:alpha val="25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382196" y="1959620"/>
            <a:ext cx="132751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FF5C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QUANTUM THREAT</a:t>
            </a:r>
            <a:endParaRPr lang="en-US" sz="760" dirty="0"/>
          </a:p>
        </p:txBody>
      </p:sp>
      <p:sp>
        <p:nvSpPr>
          <p:cNvPr id="29" name="Shape 24"/>
          <p:cNvSpPr/>
          <p:nvPr/>
        </p:nvSpPr>
        <p:spPr>
          <a:xfrm>
            <a:off x="6868418" y="2123554"/>
            <a:ext cx="4763" cy="104775"/>
          </a:xfrm>
          <a:prstGeom prst="rect">
            <a:avLst/>
          </a:prstGeom>
          <a:solidFill>
            <a:srgbClr val="FF5C5C">
              <a:alpha val="60000"/>
            </a:srgbClr>
          </a:solidFill>
          <a:ln/>
        </p:spPr>
      </p:sp>
      <p:sp>
        <p:nvSpPr>
          <p:cNvPr id="30" name="Shape 25"/>
          <p:cNvSpPr/>
          <p:nvPr/>
        </p:nvSpPr>
        <p:spPr>
          <a:xfrm>
            <a:off x="5101530" y="2304343"/>
            <a:ext cx="3538538" cy="585788"/>
          </a:xfrm>
          <a:prstGeom prst="roundRect">
            <a:avLst>
              <a:gd name="adj" fmla="val 9756"/>
            </a:avLst>
          </a:prstGeom>
          <a:solidFill>
            <a:srgbClr val="FF5C5C">
              <a:alpha val="8000"/>
            </a:srgbClr>
          </a:solidFill>
          <a:ln w="4763">
            <a:solidFill>
              <a:srgbClr val="FF5C5C">
                <a:alpha val="30000"/>
              </a:srgb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981" y="2496666"/>
            <a:ext cx="201141" cy="201141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092503" y="2436614"/>
            <a:ext cx="170963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5C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Quantum Adversary</a:t>
            </a:r>
            <a:endParaRPr lang="en-US" sz="1040" dirty="0"/>
          </a:p>
        </p:txBody>
      </p:sp>
      <p:sp>
        <p:nvSpPr>
          <p:cNvPr id="33" name="Text 27"/>
          <p:cNvSpPr/>
          <p:nvPr/>
        </p:nvSpPr>
        <p:spPr>
          <a:xfrm>
            <a:off x="6092503" y="2630760"/>
            <a:ext cx="24609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Shor's algorithm · exponential speedup</a:t>
            </a:r>
            <a:endParaRPr lang="en-US" sz="790" dirty="0"/>
          </a:p>
        </p:txBody>
      </p:sp>
      <p:sp>
        <p:nvSpPr>
          <p:cNvPr id="34" name="Shape 28"/>
          <p:cNvSpPr/>
          <p:nvPr/>
        </p:nvSpPr>
        <p:spPr>
          <a:xfrm>
            <a:off x="6868344" y="2966145"/>
            <a:ext cx="4763" cy="104775"/>
          </a:xfrm>
          <a:prstGeom prst="rect">
            <a:avLst/>
          </a:prstGeom>
          <a:solidFill>
            <a:srgbClr val="7C5CFF">
              <a:alpha val="60000"/>
            </a:srgbClr>
          </a:solidFill>
          <a:ln/>
        </p:spPr>
      </p:sp>
      <p:sp>
        <p:nvSpPr>
          <p:cNvPr id="35" name="Shape 29"/>
          <p:cNvSpPr/>
          <p:nvPr/>
        </p:nvSpPr>
        <p:spPr>
          <a:xfrm>
            <a:off x="6308787" y="3069989"/>
            <a:ext cx="1123950" cy="204787"/>
          </a:xfrm>
          <a:prstGeom prst="roundRect">
            <a:avLst>
              <a:gd name="adj" fmla="val 9302"/>
            </a:avLst>
          </a:prstGeom>
          <a:solidFill>
            <a:srgbClr val="7C5CFF">
              <a:alpha val="10000"/>
            </a:srgbClr>
          </a:solidFill>
          <a:ln w="4763">
            <a:solidFill>
              <a:srgbClr val="7C5CFF">
                <a:alpha val="25000"/>
              </a:srgbClr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423868" y="3109913"/>
            <a:ext cx="121907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spc="76" kern="0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PQC MIGRATION</a:t>
            </a:r>
            <a:endParaRPr lang="en-US" sz="760" dirty="0"/>
          </a:p>
        </p:txBody>
      </p:sp>
      <p:sp>
        <p:nvSpPr>
          <p:cNvPr id="37" name="Shape 31"/>
          <p:cNvSpPr/>
          <p:nvPr/>
        </p:nvSpPr>
        <p:spPr>
          <a:xfrm>
            <a:off x="6868344" y="3273847"/>
            <a:ext cx="4763" cy="104775"/>
          </a:xfrm>
          <a:prstGeom prst="rect">
            <a:avLst/>
          </a:prstGeom>
          <a:solidFill>
            <a:srgbClr val="7C5CFF">
              <a:alpha val="60000"/>
            </a:srgbClr>
          </a:solidFill>
          <a:ln/>
        </p:spPr>
      </p:sp>
      <p:sp>
        <p:nvSpPr>
          <p:cNvPr id="38" name="Shape 32"/>
          <p:cNvSpPr/>
          <p:nvPr/>
        </p:nvSpPr>
        <p:spPr>
          <a:xfrm>
            <a:off x="5101530" y="3454636"/>
            <a:ext cx="3538538" cy="585788"/>
          </a:xfrm>
          <a:prstGeom prst="roundRect">
            <a:avLst>
              <a:gd name="adj" fmla="val 9756"/>
            </a:avLst>
          </a:prstGeom>
          <a:solidFill>
            <a:srgbClr val="20E3B2">
              <a:alpha val="8000"/>
            </a:srgbClr>
          </a:solidFill>
          <a:ln w="4763">
            <a:solidFill>
              <a:srgbClr val="20E3B2">
                <a:alpha val="35000"/>
              </a:srgbClr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6838" y="3646959"/>
            <a:ext cx="201141" cy="201141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069360" y="3586907"/>
            <a:ext cx="252117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Post-Quantum Cryptography</a:t>
            </a:r>
            <a:endParaRPr lang="en-US" sz="1040" dirty="0"/>
          </a:p>
        </p:txBody>
      </p:sp>
      <p:sp>
        <p:nvSpPr>
          <p:cNvPr id="41" name="Text 34"/>
          <p:cNvSpPr/>
          <p:nvPr/>
        </p:nvSpPr>
        <p:spPr>
          <a:xfrm>
            <a:off x="6069360" y="3781053"/>
            <a:ext cx="223463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ML-KEM · ML-DSA · lattice hardness</a:t>
            </a:r>
            <a:endParaRPr lang="en-US" sz="790" dirty="0"/>
          </a:p>
        </p:txBody>
      </p:sp>
      <p:sp>
        <p:nvSpPr>
          <p:cNvPr id="42" name="Shape 35"/>
          <p:cNvSpPr/>
          <p:nvPr/>
        </p:nvSpPr>
        <p:spPr>
          <a:xfrm>
            <a:off x="502444" y="4585506"/>
            <a:ext cx="8139112" cy="352425"/>
          </a:xfrm>
          <a:prstGeom prst="roundRect">
            <a:avLst>
              <a:gd name="adj" fmla="val 10811"/>
            </a:avLst>
          </a:prstGeom>
          <a:solidFill>
            <a:srgbClr val="7C5CFF">
              <a:alpha val="12000"/>
            </a:srgbClr>
          </a:solidFill>
          <a:ln w="4763">
            <a:solidFill>
              <a:srgbClr val="7C5CFF">
                <a:alpha val="28000"/>
              </a:srgbClr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90488" y="4682133"/>
            <a:ext cx="56184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Question: </a:t>
            </a:r>
            <a:pPr algn="l" indent="0" marL="0"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Can we retain practical security while surviving the quantum shift?</a:t>
            </a:r>
            <a:endParaRPr lang="en-US" sz="940" dirty="0"/>
          </a:p>
        </p:txBody>
      </p:sp>
      <p:sp>
        <p:nvSpPr>
          <p:cNvPr id="44" name="Text 37"/>
          <p:cNvSpPr/>
          <p:nvPr/>
        </p:nvSpPr>
        <p:spPr>
          <a:xfrm>
            <a:off x="8264500" y="4895850"/>
            <a:ext cx="54674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 / 20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890" y="228600"/>
            <a:ext cx="6757921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Requirements &amp; Compliance Landscape</a:t>
            </a:r>
            <a:endParaRPr lang="en-US" sz="2230" dirty="0"/>
          </a:p>
        </p:txBody>
      </p:sp>
      <p:sp>
        <p:nvSpPr>
          <p:cNvPr id="6" name="Text 2"/>
          <p:cNvSpPr/>
          <p:nvPr/>
        </p:nvSpPr>
        <p:spPr>
          <a:xfrm>
            <a:off x="502890" y="628576"/>
            <a:ext cx="447644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migration to post-quantum cryptography is not optional</a:t>
            </a:r>
            <a:endParaRPr lang="en-US" sz="940" dirty="0"/>
          </a:p>
        </p:txBody>
      </p:sp>
      <p:sp>
        <p:nvSpPr>
          <p:cNvPr id="7" name="Shape 3"/>
          <p:cNvSpPr/>
          <p:nvPr/>
        </p:nvSpPr>
        <p:spPr>
          <a:xfrm>
            <a:off x="503411" y="952128"/>
            <a:ext cx="3905250" cy="1900238"/>
          </a:xfrm>
          <a:prstGeom prst="roundRect">
            <a:avLst>
              <a:gd name="adj" fmla="val 4010"/>
            </a:avLst>
          </a:prstGeom>
          <a:solidFill>
            <a:srgbClr val="141938"/>
          </a:solidFill>
          <a:ln w="4763">
            <a:solidFill>
              <a:srgbClr val="00C2FF">
                <a:alpha val="25000"/>
              </a:srgbClr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74" y="956295"/>
            <a:ext cx="3895725" cy="142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0488" y="1094408"/>
            <a:ext cx="26431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729"/>
              </a:spcAft>
              <a:buNone/>
            </a:pPr>
            <a:r>
              <a:rPr lang="en-US" sz="790" b="1" spc="95" kern="0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NIST STANDARDISATION TIMELINE</a:t>
            </a:r>
            <a:endParaRPr lang="en-US" sz="790" dirty="0"/>
          </a:p>
        </p:txBody>
      </p:sp>
      <p:sp>
        <p:nvSpPr>
          <p:cNvPr id="10" name="Shape 5"/>
          <p:cNvSpPr/>
          <p:nvPr/>
        </p:nvSpPr>
        <p:spPr>
          <a:xfrm>
            <a:off x="691418" y="1400063"/>
            <a:ext cx="409575" cy="185738"/>
          </a:xfrm>
          <a:prstGeom prst="roundRect">
            <a:avLst>
              <a:gd name="adj" fmla="val 10256"/>
            </a:avLst>
          </a:prstGeom>
          <a:solidFill>
            <a:srgbClr val="00C2FF">
              <a:alpha val="10000"/>
            </a:srgbClr>
          </a:solidFill>
          <a:ln w="4763">
            <a:solidFill>
              <a:srgbClr val="00C2FF">
                <a:alpha val="2500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6482" y="1429122"/>
            <a:ext cx="34233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2016</a:t>
            </a:r>
            <a:endParaRPr lang="en-US" sz="720" dirty="0"/>
          </a:p>
        </p:txBody>
      </p:sp>
      <p:sp>
        <p:nvSpPr>
          <p:cNvPr id="12" name="Text 7"/>
          <p:cNvSpPr/>
          <p:nvPr/>
        </p:nvSpPr>
        <p:spPr>
          <a:xfrm>
            <a:off x="1211610" y="1337890"/>
            <a:ext cx="3373725" cy="302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NIST PQC competition launched — 82 candidates</a:t>
            </a:r>
            <a:endParaRPr lang="en-US" sz="86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submitted</a:t>
            </a:r>
            <a:endParaRPr lang="en-US" sz="860" dirty="0"/>
          </a:p>
        </p:txBody>
      </p:sp>
      <p:sp>
        <p:nvSpPr>
          <p:cNvPr id="13" name="Shape 8"/>
          <p:cNvSpPr/>
          <p:nvPr/>
        </p:nvSpPr>
        <p:spPr>
          <a:xfrm>
            <a:off x="691418" y="1730536"/>
            <a:ext cx="409575" cy="185738"/>
          </a:xfrm>
          <a:prstGeom prst="roundRect">
            <a:avLst>
              <a:gd name="adj" fmla="val 10256"/>
            </a:avLst>
          </a:prstGeom>
          <a:solidFill>
            <a:srgbClr val="00C2FF">
              <a:alpha val="10000"/>
            </a:srgbClr>
          </a:solidFill>
          <a:ln w="4763">
            <a:solidFill>
              <a:srgbClr val="00C2FF">
                <a:alpha val="25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86482" y="1759595"/>
            <a:ext cx="34233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2022</a:t>
            </a:r>
            <a:endParaRPr lang="en-US" sz="720" dirty="0"/>
          </a:p>
        </p:txBody>
      </p:sp>
      <p:sp>
        <p:nvSpPr>
          <p:cNvPr id="15" name="Text 10"/>
          <p:cNvSpPr/>
          <p:nvPr/>
        </p:nvSpPr>
        <p:spPr>
          <a:xfrm>
            <a:off x="1211610" y="1750591"/>
            <a:ext cx="392455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Four finalists selected: Kyber, Dilithium, Falcon, SPHINCS+</a:t>
            </a:r>
            <a:endParaRPr lang="en-US" sz="860" dirty="0"/>
          </a:p>
        </p:txBody>
      </p:sp>
      <p:sp>
        <p:nvSpPr>
          <p:cNvPr id="16" name="Shape 11"/>
          <p:cNvSpPr/>
          <p:nvPr/>
        </p:nvSpPr>
        <p:spPr>
          <a:xfrm>
            <a:off x="691418" y="2060935"/>
            <a:ext cx="409575" cy="185738"/>
          </a:xfrm>
          <a:prstGeom prst="roundRect">
            <a:avLst>
              <a:gd name="adj" fmla="val 10256"/>
            </a:avLst>
          </a:prstGeom>
          <a:solidFill>
            <a:srgbClr val="20E3B2">
              <a:alpha val="12000"/>
            </a:srgbClr>
          </a:solidFill>
          <a:ln w="4763">
            <a:solidFill>
              <a:srgbClr val="20E3B2">
                <a:alpha val="3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86482" y="2089993"/>
            <a:ext cx="34233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2024</a:t>
            </a:r>
            <a:endParaRPr lang="en-US" sz="720" dirty="0"/>
          </a:p>
        </p:txBody>
      </p:sp>
      <p:sp>
        <p:nvSpPr>
          <p:cNvPr id="18" name="Text 13"/>
          <p:cNvSpPr/>
          <p:nvPr/>
        </p:nvSpPr>
        <p:spPr>
          <a:xfrm>
            <a:off x="1211610" y="1998762"/>
            <a:ext cx="380808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FIPS 203/204/205 published — ML-KEM, ML-DSA, SLH-DSA</a:t>
            </a:r>
            <a:endParaRPr lang="en-US" sz="860" dirty="0"/>
          </a:p>
        </p:txBody>
      </p:sp>
      <p:sp>
        <p:nvSpPr>
          <p:cNvPr id="19" name="Text 14"/>
          <p:cNvSpPr/>
          <p:nvPr/>
        </p:nvSpPr>
        <p:spPr>
          <a:xfrm>
            <a:off x="1453976" y="2163366"/>
            <a:ext cx="95497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standardised</a:t>
            </a:r>
            <a:endParaRPr lang="en-US" sz="860" dirty="0"/>
          </a:p>
        </p:txBody>
      </p:sp>
      <p:sp>
        <p:nvSpPr>
          <p:cNvPr id="20" name="Shape 15"/>
          <p:cNvSpPr/>
          <p:nvPr/>
        </p:nvSpPr>
        <p:spPr>
          <a:xfrm>
            <a:off x="691418" y="2462101"/>
            <a:ext cx="409575" cy="185738"/>
          </a:xfrm>
          <a:prstGeom prst="roundRect">
            <a:avLst>
              <a:gd name="adj" fmla="val 10256"/>
            </a:avLst>
          </a:prstGeom>
          <a:solidFill>
            <a:srgbClr val="FF5C5C">
              <a:alpha val="10000"/>
            </a:srgbClr>
          </a:solidFill>
          <a:ln w="4763">
            <a:solidFill>
              <a:srgbClr val="FF5C5C">
                <a:alpha val="3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86482" y="2491160"/>
            <a:ext cx="34233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2030</a:t>
            </a:r>
            <a:endParaRPr lang="en-US" sz="720" dirty="0"/>
          </a:p>
        </p:txBody>
      </p:sp>
      <p:sp>
        <p:nvSpPr>
          <p:cNvPr id="22" name="Text 17"/>
          <p:cNvSpPr/>
          <p:nvPr/>
        </p:nvSpPr>
        <p:spPr>
          <a:xfrm>
            <a:off x="1211610" y="2399928"/>
            <a:ext cx="3682611" cy="302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NSA CNSA 2.0 deadline — all national security systems</a:t>
            </a:r>
            <a:endParaRPr lang="en-US" sz="86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must migrate</a:t>
            </a:r>
            <a:endParaRPr lang="en-US" sz="860" dirty="0"/>
          </a:p>
        </p:txBody>
      </p:sp>
      <p:sp>
        <p:nvSpPr>
          <p:cNvPr id="23" name="Shape 18"/>
          <p:cNvSpPr/>
          <p:nvPr/>
        </p:nvSpPr>
        <p:spPr>
          <a:xfrm>
            <a:off x="503411" y="2956210"/>
            <a:ext cx="3905250" cy="1981200"/>
          </a:xfrm>
          <a:prstGeom prst="roundRect">
            <a:avLst>
              <a:gd name="adj" fmla="val 3846"/>
            </a:avLst>
          </a:prstGeom>
          <a:solidFill>
            <a:srgbClr val="FF5C5C">
              <a:alpha val="7000"/>
            </a:srgbClr>
          </a:solidFill>
          <a:ln w="4763">
            <a:solidFill>
              <a:srgbClr val="FF5C5C">
                <a:alpha val="30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8174" y="2960563"/>
            <a:ext cx="3895725" cy="14288"/>
          </a:xfrm>
          <a:prstGeom prst="rect">
            <a:avLst/>
          </a:prstGeom>
          <a:solidFill>
            <a:srgbClr val="FF5C5C">
              <a:alpha val="80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690488" y="3098676"/>
            <a:ext cx="259923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790" b="1" spc="95" kern="0" dirty="0">
                <a:solidFill>
                  <a:srgbClr val="FF5C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HARVEST-NOW, DECRYPT-LATER</a:t>
            </a:r>
            <a:endParaRPr lang="en-US" sz="790" dirty="0"/>
          </a:p>
        </p:txBody>
      </p:sp>
      <p:sp>
        <p:nvSpPr>
          <p:cNvPr id="26" name="Text 21"/>
          <p:cNvSpPr/>
          <p:nvPr/>
        </p:nvSpPr>
        <p:spPr>
          <a:xfrm>
            <a:off x="690488" y="3320802"/>
            <a:ext cx="4590403" cy="520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Adversaries are storing encrypted traffic today to decrypt it once</a:t>
            </a:r>
            <a:endParaRPr lang="en-US" sz="90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sufficiently large quantum computer exists. Data with a 20-year</a:t>
            </a:r>
            <a:endParaRPr lang="en-US" sz="90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sensitivity horizon is already at risk.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636815" y="950900"/>
            <a:ext cx="4005262" cy="2433637"/>
          </a:xfrm>
          <a:prstGeom prst="roundRect">
            <a:avLst>
              <a:gd name="adj" fmla="val 3131"/>
            </a:avLst>
          </a:prstGeom>
          <a:solidFill>
            <a:srgbClr val="141938"/>
          </a:solidFill>
          <a:ln w="4763">
            <a:solidFill>
              <a:srgbClr val="7C5CFF">
                <a:alpha val="2500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577" y="956295"/>
            <a:ext cx="3995737" cy="142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25380" y="1094408"/>
            <a:ext cx="25843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729"/>
              </a:spcAft>
              <a:buNone/>
            </a:pPr>
            <a:r>
              <a:rPr lang="en-US" sz="790" b="1" spc="95" kern="0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COMPLIANCE &amp; POLICY DRIVERS</a:t>
            </a:r>
            <a:endParaRPr lang="en-US" sz="790" dirty="0"/>
          </a:p>
        </p:txBody>
      </p:sp>
      <p:sp>
        <p:nvSpPr>
          <p:cNvPr id="30" name="Shape 24"/>
          <p:cNvSpPr/>
          <p:nvPr/>
        </p:nvSpPr>
        <p:spPr>
          <a:xfrm>
            <a:off x="4824933" y="1328812"/>
            <a:ext cx="3629025" cy="433388"/>
          </a:xfrm>
          <a:prstGeom prst="roundRect">
            <a:avLst>
              <a:gd name="adj" fmla="val 8791"/>
            </a:avLst>
          </a:prstGeom>
          <a:solidFill>
            <a:srgbClr val="7C5CFF">
              <a:alpha val="6000"/>
            </a:srgbClr>
          </a:solidFill>
          <a:ln w="4763">
            <a:solidFill>
              <a:srgbClr val="7C5CFF">
                <a:alpha val="1500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939829" y="1394073"/>
            <a:ext cx="95565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NSA CNSA 2.0</a:t>
            </a:r>
            <a:endParaRPr lang="en-US" sz="760" dirty="0"/>
          </a:p>
        </p:txBody>
      </p:sp>
      <p:sp>
        <p:nvSpPr>
          <p:cNvPr id="32" name="Text 26"/>
          <p:cNvSpPr/>
          <p:nvPr/>
        </p:nvSpPr>
        <p:spPr>
          <a:xfrm>
            <a:off x="5722367" y="1398836"/>
            <a:ext cx="31947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Mandatory PQC for US national security systems by</a:t>
            </a:r>
            <a:endParaRPr lang="en-US" sz="790" dirty="0"/>
          </a:p>
        </p:txBody>
      </p:sp>
      <p:sp>
        <p:nvSpPr>
          <p:cNvPr id="33" name="Text 27"/>
          <p:cNvSpPr/>
          <p:nvPr/>
        </p:nvSpPr>
        <p:spPr>
          <a:xfrm>
            <a:off x="5722367" y="1559793"/>
            <a:ext cx="4065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2030</a:t>
            </a:r>
            <a:endParaRPr lang="en-US" sz="790" dirty="0"/>
          </a:p>
        </p:txBody>
      </p:sp>
      <p:sp>
        <p:nvSpPr>
          <p:cNvPr id="34" name="Shape 28"/>
          <p:cNvSpPr/>
          <p:nvPr/>
        </p:nvSpPr>
        <p:spPr>
          <a:xfrm>
            <a:off x="4824933" y="1824782"/>
            <a:ext cx="3629025" cy="433388"/>
          </a:xfrm>
          <a:prstGeom prst="roundRect">
            <a:avLst>
              <a:gd name="adj" fmla="val 8791"/>
            </a:avLst>
          </a:prstGeom>
          <a:solidFill>
            <a:srgbClr val="7C5CFF">
              <a:alpha val="6000"/>
            </a:srgbClr>
          </a:solidFill>
          <a:ln w="4763">
            <a:solidFill>
              <a:srgbClr val="7C5CFF">
                <a:alpha val="15000"/>
              </a:srgbClr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939829" y="1890043"/>
            <a:ext cx="125515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NIST SP 800-131A</a:t>
            </a:r>
            <a:endParaRPr lang="en-US" sz="760" dirty="0"/>
          </a:p>
        </p:txBody>
      </p:sp>
      <p:sp>
        <p:nvSpPr>
          <p:cNvPr id="36" name="Text 30"/>
          <p:cNvSpPr/>
          <p:nvPr/>
        </p:nvSpPr>
        <p:spPr>
          <a:xfrm>
            <a:off x="5952753" y="1894805"/>
            <a:ext cx="273544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Sunset plan for RSA-2048 and SHA-1 based</a:t>
            </a:r>
            <a:endParaRPr lang="en-US" sz="790" dirty="0"/>
          </a:p>
        </p:txBody>
      </p:sp>
      <p:sp>
        <p:nvSpPr>
          <p:cNvPr id="37" name="Text 31"/>
          <p:cNvSpPr/>
          <p:nvPr/>
        </p:nvSpPr>
        <p:spPr>
          <a:xfrm>
            <a:off x="5952753" y="2055763"/>
            <a:ext cx="57266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systems</a:t>
            </a:r>
            <a:endParaRPr lang="en-US" sz="790" dirty="0"/>
          </a:p>
        </p:txBody>
      </p:sp>
      <p:sp>
        <p:nvSpPr>
          <p:cNvPr id="38" name="Shape 32"/>
          <p:cNvSpPr/>
          <p:nvPr/>
        </p:nvSpPr>
        <p:spPr>
          <a:xfrm>
            <a:off x="4824933" y="2320751"/>
            <a:ext cx="3629025" cy="433388"/>
          </a:xfrm>
          <a:prstGeom prst="roundRect">
            <a:avLst>
              <a:gd name="adj" fmla="val 8791"/>
            </a:avLst>
          </a:prstGeom>
          <a:solidFill>
            <a:srgbClr val="7C5CFF">
              <a:alpha val="6000"/>
            </a:srgbClr>
          </a:solidFill>
          <a:ln w="4763">
            <a:solidFill>
              <a:srgbClr val="7C5CFF">
                <a:alpha val="1500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939829" y="2386013"/>
            <a:ext cx="88078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OMB M-23-02</a:t>
            </a:r>
            <a:endParaRPr lang="en-US" sz="760" dirty="0"/>
          </a:p>
        </p:txBody>
      </p:sp>
      <p:sp>
        <p:nvSpPr>
          <p:cNvPr id="40" name="Text 34"/>
          <p:cNvSpPr/>
          <p:nvPr/>
        </p:nvSpPr>
        <p:spPr>
          <a:xfrm>
            <a:off x="5664771" y="2390775"/>
            <a:ext cx="298967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 Federal inventory and migration roadmap for</a:t>
            </a:r>
            <a:endParaRPr lang="en-US" sz="790" dirty="0"/>
          </a:p>
        </p:txBody>
      </p:sp>
      <p:sp>
        <p:nvSpPr>
          <p:cNvPr id="41" name="Text 35"/>
          <p:cNvSpPr/>
          <p:nvPr/>
        </p:nvSpPr>
        <p:spPr>
          <a:xfrm>
            <a:off x="5664771" y="2551733"/>
            <a:ext cx="9056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cryptography</a:t>
            </a:r>
            <a:endParaRPr lang="en-US" sz="790" dirty="0"/>
          </a:p>
        </p:txBody>
      </p:sp>
      <p:sp>
        <p:nvSpPr>
          <p:cNvPr id="42" name="Shape 36"/>
          <p:cNvSpPr/>
          <p:nvPr/>
        </p:nvSpPr>
        <p:spPr>
          <a:xfrm>
            <a:off x="4824933" y="2816721"/>
            <a:ext cx="3629025" cy="433388"/>
          </a:xfrm>
          <a:prstGeom prst="roundRect">
            <a:avLst>
              <a:gd name="adj" fmla="val 8791"/>
            </a:avLst>
          </a:prstGeom>
          <a:solidFill>
            <a:srgbClr val="7C5CFF">
              <a:alpha val="6000"/>
            </a:srgbClr>
          </a:solidFill>
          <a:ln w="4763">
            <a:solidFill>
              <a:srgbClr val="7C5CFF">
                <a:alpha val="15000"/>
              </a:srgbClr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939829" y="2881982"/>
            <a:ext cx="11054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ETSI / EU NIS2</a:t>
            </a:r>
            <a:endParaRPr lang="en-US" sz="760" dirty="0"/>
          </a:p>
        </p:txBody>
      </p:sp>
      <p:sp>
        <p:nvSpPr>
          <p:cNvPr id="44" name="Text 38"/>
          <p:cNvSpPr/>
          <p:nvPr/>
        </p:nvSpPr>
        <p:spPr>
          <a:xfrm>
            <a:off x="5837560" y="2886745"/>
            <a:ext cx="31595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European critical infrastructure quantum readiness</a:t>
            </a:r>
            <a:endParaRPr lang="en-US" sz="790" dirty="0"/>
          </a:p>
        </p:txBody>
      </p:sp>
      <p:sp>
        <p:nvSpPr>
          <p:cNvPr id="45" name="Text 39"/>
          <p:cNvSpPr/>
          <p:nvPr/>
        </p:nvSpPr>
        <p:spPr>
          <a:xfrm>
            <a:off x="5837560" y="3047702"/>
            <a:ext cx="7574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obligations</a:t>
            </a:r>
            <a:endParaRPr lang="en-US" sz="790" dirty="0"/>
          </a:p>
        </p:txBody>
      </p:sp>
      <p:sp>
        <p:nvSpPr>
          <p:cNvPr id="46" name="Shape 40"/>
          <p:cNvSpPr/>
          <p:nvPr/>
        </p:nvSpPr>
        <p:spPr>
          <a:xfrm>
            <a:off x="4636815" y="3486001"/>
            <a:ext cx="4005262" cy="1452562"/>
          </a:xfrm>
          <a:prstGeom prst="roundRect">
            <a:avLst>
              <a:gd name="adj" fmla="val 5246"/>
            </a:avLst>
          </a:prstGeom>
          <a:solidFill>
            <a:srgbClr val="141938"/>
          </a:solidFill>
          <a:ln w="4763">
            <a:solidFill>
              <a:srgbClr val="20E3B2">
                <a:alpha val="22000"/>
              </a:srgbClr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1577" y="3491508"/>
            <a:ext cx="3995737" cy="1428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4825380" y="3629620"/>
            <a:ext cx="31017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790" b="1" spc="95" kern="0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TECHNICAL MIGRATION REQUIREMENTS</a:t>
            </a:r>
            <a:endParaRPr lang="en-US" sz="790" dirty="0"/>
          </a:p>
        </p:txBody>
      </p:sp>
      <p:sp>
        <p:nvSpPr>
          <p:cNvPr id="49" name="Shape 42"/>
          <p:cNvSpPr/>
          <p:nvPr/>
        </p:nvSpPr>
        <p:spPr>
          <a:xfrm>
            <a:off x="4824710" y="3870573"/>
            <a:ext cx="33337" cy="33337"/>
          </a:xfrm>
          <a:prstGeom prst="ellipse">
            <a:avLst/>
          </a:prstGeom>
          <a:solidFill>
            <a:srgbClr val="20E3B2"/>
          </a:solidFill>
          <a:ln/>
        </p:spPr>
      </p:sp>
      <p:sp>
        <p:nvSpPr>
          <p:cNvPr id="50" name="Text 43"/>
          <p:cNvSpPr/>
          <p:nvPr/>
        </p:nvSpPr>
        <p:spPr>
          <a:xfrm>
            <a:off x="4930527" y="3846984"/>
            <a:ext cx="456321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Quantum resistance at NIST Security Level 3 (equivalent to AES-192)</a:t>
            </a:r>
            <a:endParaRPr lang="en-US" sz="860" dirty="0"/>
          </a:p>
        </p:txBody>
      </p:sp>
      <p:sp>
        <p:nvSpPr>
          <p:cNvPr id="51" name="Shape 44"/>
          <p:cNvSpPr/>
          <p:nvPr/>
        </p:nvSpPr>
        <p:spPr>
          <a:xfrm>
            <a:off x="4824710" y="4092104"/>
            <a:ext cx="33337" cy="33337"/>
          </a:xfrm>
          <a:prstGeom prst="ellipse">
            <a:avLst/>
          </a:prstGeom>
          <a:solidFill>
            <a:srgbClr val="20E3B2"/>
          </a:solidFill>
          <a:ln/>
        </p:spPr>
      </p:sp>
      <p:sp>
        <p:nvSpPr>
          <p:cNvPr id="52" name="Text 45"/>
          <p:cNvSpPr/>
          <p:nvPr/>
        </p:nvSpPr>
        <p:spPr>
          <a:xfrm>
            <a:off x="4930527" y="4068514"/>
            <a:ext cx="370340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Backward compatibility during hybrid transition period</a:t>
            </a:r>
            <a:endParaRPr lang="en-US" sz="860" dirty="0"/>
          </a:p>
        </p:txBody>
      </p:sp>
      <p:sp>
        <p:nvSpPr>
          <p:cNvPr id="53" name="Shape 46"/>
          <p:cNvSpPr/>
          <p:nvPr/>
        </p:nvSpPr>
        <p:spPr>
          <a:xfrm>
            <a:off x="4824710" y="4313634"/>
            <a:ext cx="33337" cy="33337"/>
          </a:xfrm>
          <a:prstGeom prst="ellipse">
            <a:avLst/>
          </a:prstGeom>
          <a:solidFill>
            <a:srgbClr val="20E3B2"/>
          </a:solidFill>
          <a:ln/>
        </p:spPr>
      </p:sp>
      <p:sp>
        <p:nvSpPr>
          <p:cNvPr id="54" name="Text 47"/>
          <p:cNvSpPr/>
          <p:nvPr/>
        </p:nvSpPr>
        <p:spPr>
          <a:xfrm>
            <a:off x="4930527" y="4290045"/>
            <a:ext cx="3985595" cy="308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Acceptable key and signature size overhead in constrained</a:t>
            </a:r>
            <a:endParaRPr lang="en-US" sz="860" dirty="0"/>
          </a:p>
          <a:p>
            <a:pPr algn="l" indent="0" marL="0">
              <a:lnSpc>
                <a:spcPts val="1339"/>
              </a:lnSpc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environments</a:t>
            </a:r>
            <a:endParaRPr lang="en-US" sz="860" dirty="0"/>
          </a:p>
        </p:txBody>
      </p:sp>
      <p:sp>
        <p:nvSpPr>
          <p:cNvPr id="55" name="Shape 48"/>
          <p:cNvSpPr/>
          <p:nvPr/>
        </p:nvSpPr>
        <p:spPr>
          <a:xfrm>
            <a:off x="4824710" y="4705276"/>
            <a:ext cx="33337" cy="33337"/>
          </a:xfrm>
          <a:prstGeom prst="ellipse">
            <a:avLst/>
          </a:prstGeom>
          <a:solidFill>
            <a:srgbClr val="20E3B2"/>
          </a:solidFill>
          <a:ln/>
        </p:spPr>
      </p:sp>
      <p:sp>
        <p:nvSpPr>
          <p:cNvPr id="56" name="Text 49"/>
          <p:cNvSpPr/>
          <p:nvPr/>
        </p:nvSpPr>
        <p:spPr>
          <a:xfrm>
            <a:off x="4930527" y="4681686"/>
            <a:ext cx="432524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Performance within 10× of classical schemes for most use cases</a:t>
            </a:r>
            <a:endParaRPr lang="en-US" sz="860" dirty="0"/>
          </a:p>
        </p:txBody>
      </p:sp>
      <p:sp>
        <p:nvSpPr>
          <p:cNvPr id="57" name="Text 50"/>
          <p:cNvSpPr/>
          <p:nvPr/>
        </p:nvSpPr>
        <p:spPr>
          <a:xfrm>
            <a:off x="8263533" y="4895850"/>
            <a:ext cx="5480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 / 20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890" y="228600"/>
            <a:ext cx="5359375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Makes This Work Valuable</a:t>
            </a:r>
            <a:endParaRPr lang="en-US" sz="2230" dirty="0"/>
          </a:p>
        </p:txBody>
      </p:sp>
      <p:sp>
        <p:nvSpPr>
          <p:cNvPr id="6" name="Text 2"/>
          <p:cNvSpPr/>
          <p:nvPr/>
        </p:nvSpPr>
        <p:spPr>
          <a:xfrm>
            <a:off x="502890" y="633710"/>
            <a:ext cx="452539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Four contributions that distinguish this from a textbook survey</a:t>
            </a:r>
            <a:endParaRPr lang="en-US" sz="940" dirty="0"/>
          </a:p>
        </p:txBody>
      </p:sp>
      <p:sp>
        <p:nvSpPr>
          <p:cNvPr id="7" name="Shape 3"/>
          <p:cNvSpPr/>
          <p:nvPr/>
        </p:nvSpPr>
        <p:spPr>
          <a:xfrm>
            <a:off x="503858" y="957783"/>
            <a:ext cx="3952875" cy="1924050"/>
          </a:xfrm>
          <a:prstGeom prst="roundRect">
            <a:avLst>
              <a:gd name="adj" fmla="val 2970"/>
            </a:avLst>
          </a:prstGeom>
          <a:solidFill>
            <a:srgbClr val="141938"/>
          </a:solidFill>
          <a:ln w="4763">
            <a:solidFill>
              <a:srgbClr val="00C2FF">
                <a:alpha val="25000"/>
              </a:srgbClr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20" y="961430"/>
            <a:ext cx="3943350" cy="14288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53" y="1115690"/>
            <a:ext cx="255984" cy="25598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83618" y="1136600"/>
            <a:ext cx="176467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0C2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Theory to Practice</a:t>
            </a:r>
            <a:endParaRPr lang="en-US" sz="1220" dirty="0"/>
          </a:p>
        </p:txBody>
      </p:sp>
      <p:sp>
        <p:nvSpPr>
          <p:cNvPr id="11" name="Text 5"/>
          <p:cNvSpPr/>
          <p:nvPr/>
        </p:nvSpPr>
        <p:spPr>
          <a:xfrm>
            <a:off x="736253" y="1463055"/>
            <a:ext cx="3861093" cy="342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Connects mathematical foundations directly to real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benchmark evidence — not just formulas in a vacuum</a:t>
            </a:r>
            <a:endParaRPr lang="en-US" sz="940" dirty="0"/>
          </a:p>
        </p:txBody>
      </p:sp>
      <p:sp>
        <p:nvSpPr>
          <p:cNvPr id="12" name="Shape 6"/>
          <p:cNvSpPr/>
          <p:nvPr/>
        </p:nvSpPr>
        <p:spPr>
          <a:xfrm>
            <a:off x="4687267" y="957783"/>
            <a:ext cx="3952875" cy="1924050"/>
          </a:xfrm>
          <a:prstGeom prst="roundRect">
            <a:avLst>
              <a:gd name="adj" fmla="val 2970"/>
            </a:avLst>
          </a:prstGeom>
          <a:solidFill>
            <a:srgbClr val="141938"/>
          </a:solidFill>
          <a:ln w="4763">
            <a:solidFill>
              <a:srgbClr val="7C5CFF">
                <a:alpha val="25000"/>
              </a:srgbClr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030" y="961430"/>
            <a:ext cx="3943350" cy="14288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663" y="1115690"/>
            <a:ext cx="255984" cy="2559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267027" y="1136600"/>
            <a:ext cx="226529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7C5C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Functional Comparison</a:t>
            </a:r>
            <a:endParaRPr lang="en-US" sz="1220" dirty="0"/>
          </a:p>
        </p:txBody>
      </p:sp>
      <p:sp>
        <p:nvSpPr>
          <p:cNvPr id="16" name="Text 8"/>
          <p:cNvSpPr/>
          <p:nvPr/>
        </p:nvSpPr>
        <p:spPr>
          <a:xfrm>
            <a:off x="4919663" y="1463055"/>
            <a:ext cx="4243112" cy="342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RSA vs ML-KEM and ECDSA vs ML-DSA compared by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cryptographic role — not marketing claims or vendor hype</a:t>
            </a:r>
            <a:endParaRPr lang="en-US" sz="940" dirty="0"/>
          </a:p>
        </p:txBody>
      </p:sp>
      <p:sp>
        <p:nvSpPr>
          <p:cNvPr id="17" name="Shape 9"/>
          <p:cNvSpPr/>
          <p:nvPr/>
        </p:nvSpPr>
        <p:spPr>
          <a:xfrm>
            <a:off x="503858" y="3012653"/>
            <a:ext cx="3952875" cy="1924050"/>
          </a:xfrm>
          <a:prstGeom prst="roundRect">
            <a:avLst>
              <a:gd name="adj" fmla="val 2970"/>
            </a:avLst>
          </a:prstGeom>
          <a:solidFill>
            <a:srgbClr val="141938"/>
          </a:solidFill>
          <a:ln w="4763">
            <a:solidFill>
              <a:srgbClr val="20E3B2">
                <a:alpha val="22000"/>
              </a:srgbClr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620" y="3016300"/>
            <a:ext cx="3943350" cy="14288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253" y="3170560"/>
            <a:ext cx="255984" cy="25598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083618" y="3191470"/>
            <a:ext cx="200062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0E3B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Two-Track Learning</a:t>
            </a:r>
            <a:endParaRPr lang="en-US" sz="1220" dirty="0"/>
          </a:p>
        </p:txBody>
      </p:sp>
      <p:sp>
        <p:nvSpPr>
          <p:cNvPr id="21" name="Text 11"/>
          <p:cNvSpPr/>
          <p:nvPr/>
        </p:nvSpPr>
        <p:spPr>
          <a:xfrm>
            <a:off x="736253" y="3517925"/>
            <a:ext cx="4465320" cy="342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Toy models for mathematical intuition paired with production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libraries for real-world performance realism</a:t>
            </a:r>
            <a:endParaRPr lang="en-US" sz="940" dirty="0"/>
          </a:p>
        </p:txBody>
      </p:sp>
      <p:sp>
        <p:nvSpPr>
          <p:cNvPr id="22" name="Shape 12"/>
          <p:cNvSpPr/>
          <p:nvPr/>
        </p:nvSpPr>
        <p:spPr>
          <a:xfrm>
            <a:off x="4687267" y="3012653"/>
            <a:ext cx="3952875" cy="1924050"/>
          </a:xfrm>
          <a:prstGeom prst="roundRect">
            <a:avLst>
              <a:gd name="adj" fmla="val 2970"/>
            </a:avLst>
          </a:prstGeom>
          <a:solidFill>
            <a:srgbClr val="141938"/>
          </a:solidFill>
          <a:ln w="4763">
            <a:solidFill>
              <a:srgbClr val="FF5C5C">
                <a:alpha val="22000"/>
              </a:srgbClr>
            </a:solidFill>
            <a:prstDash val="solid"/>
          </a:ln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2030" y="3016300"/>
            <a:ext cx="3943350" cy="14288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9663" y="3170560"/>
            <a:ext cx="255984" cy="255984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267027" y="3191470"/>
            <a:ext cx="147997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5C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Migration Lens</a:t>
            </a:r>
            <a:endParaRPr lang="en-US" sz="1220" dirty="0"/>
          </a:p>
        </p:txBody>
      </p:sp>
      <p:sp>
        <p:nvSpPr>
          <p:cNvPr id="26" name="Text 14"/>
          <p:cNvSpPr/>
          <p:nvPr/>
        </p:nvSpPr>
        <p:spPr>
          <a:xfrm>
            <a:off x="4919663" y="3517925"/>
            <a:ext cx="4257333" cy="342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Post-quantum transition is a systems problem — affecting</a:t>
            </a:r>
            <a:endParaRPr lang="en-US" sz="940" dirty="0"/>
          </a:p>
          <a:p>
            <a:pPr algn="l" indent="0" marL="0">
              <a:lnSpc>
                <a:spcPts val="1497"/>
              </a:lnSpc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bandwidth, latency, certificates, and protocol design</a:t>
            </a:r>
            <a:endParaRPr lang="en-US" sz="940" dirty="0"/>
          </a:p>
        </p:txBody>
      </p:sp>
      <p:sp>
        <p:nvSpPr>
          <p:cNvPr id="27" name="Text 15"/>
          <p:cNvSpPr/>
          <p:nvPr/>
        </p:nvSpPr>
        <p:spPr>
          <a:xfrm>
            <a:off x="8261226" y="4895850"/>
            <a:ext cx="55099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 / 20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890" y="228600"/>
            <a:ext cx="5332579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84"/>
              </a:spcAft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Research Scope &amp; Methodology</a:t>
            </a:r>
            <a:endParaRPr lang="en-US" sz="2230" dirty="0"/>
          </a:p>
        </p:txBody>
      </p:sp>
      <p:sp>
        <p:nvSpPr>
          <p:cNvPr id="6" name="Text 2"/>
          <p:cNvSpPr/>
          <p:nvPr/>
        </p:nvSpPr>
        <p:spPr>
          <a:xfrm>
            <a:off x="502890" y="628576"/>
            <a:ext cx="396411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was implemented, measured, and why it matters</a:t>
            </a:r>
            <a:endParaRPr lang="en-US" sz="940" dirty="0"/>
          </a:p>
        </p:txBody>
      </p:sp>
      <p:sp>
        <p:nvSpPr>
          <p:cNvPr id="7" name="Text 3"/>
          <p:cNvSpPr/>
          <p:nvPr/>
        </p:nvSpPr>
        <p:spPr>
          <a:xfrm>
            <a:off x="502890" y="961058"/>
            <a:ext cx="191423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790" b="1" spc="95" kern="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SCHEMES UNDER STUDY</a:t>
            </a:r>
            <a:endParaRPr lang="en-US" sz="790" dirty="0"/>
          </a:p>
        </p:txBody>
      </p:sp>
      <p:sp>
        <p:nvSpPr>
          <p:cNvPr id="8" name="Shape 4"/>
          <p:cNvSpPr/>
          <p:nvPr/>
        </p:nvSpPr>
        <p:spPr>
          <a:xfrm>
            <a:off x="502779" y="1229916"/>
            <a:ext cx="3662362" cy="500063"/>
          </a:xfrm>
          <a:prstGeom prst="roundRect">
            <a:avLst>
              <a:gd name="adj" fmla="val 11429"/>
            </a:avLst>
          </a:prstGeom>
          <a:solidFill>
            <a:srgbClr val="FF5C5C">
              <a:alpha val="6000"/>
            </a:srgbClr>
          </a:solidFill>
          <a:ln w="4763">
            <a:solidFill>
              <a:srgbClr val="FF5C5C">
                <a:alpha val="2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4798" y="1317203"/>
            <a:ext cx="79874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RSA-2048</a:t>
            </a:r>
            <a:endParaRPr lang="en-US" sz="940" dirty="0"/>
          </a:p>
        </p:txBody>
      </p:sp>
      <p:sp>
        <p:nvSpPr>
          <p:cNvPr id="10" name="Text 6"/>
          <p:cNvSpPr/>
          <p:nvPr/>
        </p:nvSpPr>
        <p:spPr>
          <a:xfrm>
            <a:off x="1357164" y="1339825"/>
            <a:ext cx="71971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FF5C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PKCS #1 v2.2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644798" y="1510829"/>
            <a:ext cx="26548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Integer factorisation — keygen, sign, verify</a:t>
            </a:r>
            <a:endParaRPr lang="en-US" sz="790" dirty="0"/>
          </a:p>
        </p:txBody>
      </p:sp>
      <p:sp>
        <p:nvSpPr>
          <p:cNvPr id="12" name="Shape 8"/>
          <p:cNvSpPr/>
          <p:nvPr/>
        </p:nvSpPr>
        <p:spPr>
          <a:xfrm>
            <a:off x="3504009" y="1394222"/>
            <a:ext cx="519112" cy="17145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3577158" y="1424360"/>
            <a:ext cx="541809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Classical</a:t>
            </a:r>
            <a:endParaRPr lang="en-US" sz="680" dirty="0"/>
          </a:p>
        </p:txBody>
      </p:sp>
      <p:sp>
        <p:nvSpPr>
          <p:cNvPr id="14" name="Shape 10"/>
          <p:cNvSpPr/>
          <p:nvPr/>
        </p:nvSpPr>
        <p:spPr>
          <a:xfrm>
            <a:off x="502779" y="1830735"/>
            <a:ext cx="3662362" cy="500063"/>
          </a:xfrm>
          <a:prstGeom prst="roundRect">
            <a:avLst>
              <a:gd name="adj" fmla="val 11429"/>
            </a:avLst>
          </a:prstGeom>
          <a:solidFill>
            <a:srgbClr val="00C2FF">
              <a:alpha val="6000"/>
            </a:srgbClr>
          </a:solidFill>
          <a:ln w="4763">
            <a:solidFill>
              <a:srgbClr val="00C2FF">
                <a:alpha val="2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4798" y="1918022"/>
            <a:ext cx="98419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ECDSA-P256</a:t>
            </a:r>
            <a:endParaRPr lang="en-US" sz="940" dirty="0"/>
          </a:p>
        </p:txBody>
      </p:sp>
      <p:sp>
        <p:nvSpPr>
          <p:cNvPr id="16" name="Text 12"/>
          <p:cNvSpPr/>
          <p:nvPr/>
        </p:nvSpPr>
        <p:spPr>
          <a:xfrm>
            <a:off x="1499815" y="1940644"/>
            <a:ext cx="60381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FIPS 186-5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644798" y="2111648"/>
            <a:ext cx="236484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Elliptic curve DL — keygen, sign, verify</a:t>
            </a:r>
            <a:endParaRPr lang="en-US" sz="790" dirty="0"/>
          </a:p>
        </p:txBody>
      </p:sp>
      <p:sp>
        <p:nvSpPr>
          <p:cNvPr id="18" name="Shape 14"/>
          <p:cNvSpPr/>
          <p:nvPr/>
        </p:nvSpPr>
        <p:spPr>
          <a:xfrm>
            <a:off x="3504009" y="1995041"/>
            <a:ext cx="519112" cy="17145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3577158" y="2025179"/>
            <a:ext cx="541809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Classical</a:t>
            </a:r>
            <a:endParaRPr lang="en-US" sz="680" dirty="0"/>
          </a:p>
        </p:txBody>
      </p:sp>
      <p:sp>
        <p:nvSpPr>
          <p:cNvPr id="20" name="Shape 16"/>
          <p:cNvSpPr/>
          <p:nvPr/>
        </p:nvSpPr>
        <p:spPr>
          <a:xfrm>
            <a:off x="502779" y="2431554"/>
            <a:ext cx="3662362" cy="500063"/>
          </a:xfrm>
          <a:prstGeom prst="roundRect">
            <a:avLst>
              <a:gd name="adj" fmla="val 11429"/>
            </a:avLst>
          </a:prstGeom>
          <a:solidFill>
            <a:srgbClr val="20E3B2">
              <a:alpha val="6000"/>
            </a:srgbClr>
          </a:solidFill>
          <a:ln w="4763">
            <a:solidFill>
              <a:srgbClr val="20E3B2">
                <a:alpha val="28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4798" y="2518842"/>
            <a:ext cx="98419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ML-KEM-768</a:t>
            </a:r>
            <a:endParaRPr lang="en-US" sz="940" dirty="0"/>
          </a:p>
        </p:txBody>
      </p:sp>
      <p:sp>
        <p:nvSpPr>
          <p:cNvPr id="22" name="Text 18"/>
          <p:cNvSpPr/>
          <p:nvPr/>
        </p:nvSpPr>
        <p:spPr>
          <a:xfrm>
            <a:off x="1499815" y="2541463"/>
            <a:ext cx="51007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FIPS 203</a:t>
            </a:r>
            <a:endParaRPr lang="en-US" sz="650" dirty="0"/>
          </a:p>
        </p:txBody>
      </p:sp>
      <p:sp>
        <p:nvSpPr>
          <p:cNvPr id="23" name="Text 19"/>
          <p:cNvSpPr/>
          <p:nvPr/>
        </p:nvSpPr>
        <p:spPr>
          <a:xfrm>
            <a:off x="644798" y="2712467"/>
            <a:ext cx="239724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Module-LWE — keygen, encap, decap</a:t>
            </a:r>
            <a:endParaRPr lang="en-US" sz="790" dirty="0"/>
          </a:p>
        </p:txBody>
      </p:sp>
      <p:sp>
        <p:nvSpPr>
          <p:cNvPr id="24" name="Shape 20"/>
          <p:cNvSpPr/>
          <p:nvPr/>
        </p:nvSpPr>
        <p:spPr>
          <a:xfrm>
            <a:off x="3242444" y="2595860"/>
            <a:ext cx="781050" cy="171450"/>
          </a:xfrm>
          <a:prstGeom prst="roundRect">
            <a:avLst>
              <a:gd name="adj" fmla="val 22222"/>
            </a:avLst>
          </a:prstGeom>
          <a:solidFill>
            <a:srgbClr val="20E3B2">
              <a:alpha val="10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3315965" y="2625998"/>
            <a:ext cx="881360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Post-Quantum</a:t>
            </a:r>
            <a:endParaRPr lang="en-US" sz="680" dirty="0"/>
          </a:p>
        </p:txBody>
      </p:sp>
      <p:sp>
        <p:nvSpPr>
          <p:cNvPr id="26" name="Shape 22"/>
          <p:cNvSpPr/>
          <p:nvPr/>
        </p:nvSpPr>
        <p:spPr>
          <a:xfrm>
            <a:off x="502779" y="3032373"/>
            <a:ext cx="3662362" cy="500063"/>
          </a:xfrm>
          <a:prstGeom prst="roundRect">
            <a:avLst>
              <a:gd name="adj" fmla="val 11429"/>
            </a:avLst>
          </a:prstGeom>
          <a:solidFill>
            <a:srgbClr val="7C5CFF">
              <a:alpha val="6000"/>
            </a:srgbClr>
          </a:solidFill>
          <a:ln w="4763">
            <a:solidFill>
              <a:srgbClr val="7C5CFF">
                <a:alpha val="28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4798" y="3119661"/>
            <a:ext cx="89142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ML-DSA-65</a:t>
            </a:r>
            <a:endParaRPr lang="en-US" sz="940" dirty="0"/>
          </a:p>
        </p:txBody>
      </p:sp>
      <p:sp>
        <p:nvSpPr>
          <p:cNvPr id="28" name="Text 24"/>
          <p:cNvSpPr/>
          <p:nvPr/>
        </p:nvSpPr>
        <p:spPr>
          <a:xfrm>
            <a:off x="1428452" y="3142283"/>
            <a:ext cx="5124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FIPS 204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644798" y="3313286"/>
            <a:ext cx="219642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Module-LWE — keygen, sign, verify</a:t>
            </a:r>
            <a:endParaRPr lang="en-US" sz="790" dirty="0"/>
          </a:p>
        </p:txBody>
      </p:sp>
      <p:sp>
        <p:nvSpPr>
          <p:cNvPr id="30" name="Shape 26"/>
          <p:cNvSpPr/>
          <p:nvPr/>
        </p:nvSpPr>
        <p:spPr>
          <a:xfrm>
            <a:off x="3242444" y="3196679"/>
            <a:ext cx="781050" cy="171450"/>
          </a:xfrm>
          <a:prstGeom prst="roundRect">
            <a:avLst>
              <a:gd name="adj" fmla="val 22222"/>
            </a:avLst>
          </a:prstGeom>
          <a:solidFill>
            <a:srgbClr val="20E3B2">
              <a:alpha val="10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3315965" y="3226817"/>
            <a:ext cx="881360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Post-Quantum</a:t>
            </a:r>
            <a:endParaRPr lang="en-US" sz="680" dirty="0"/>
          </a:p>
        </p:txBody>
      </p:sp>
      <p:sp>
        <p:nvSpPr>
          <p:cNvPr id="32" name="Shape 28"/>
          <p:cNvSpPr/>
          <p:nvPr/>
        </p:nvSpPr>
        <p:spPr>
          <a:xfrm>
            <a:off x="4393295" y="950491"/>
            <a:ext cx="4248150" cy="1376363"/>
          </a:xfrm>
          <a:prstGeom prst="roundRect">
            <a:avLst>
              <a:gd name="adj" fmla="val 5536"/>
            </a:avLst>
          </a:prstGeom>
          <a:solidFill>
            <a:srgbClr val="141938"/>
          </a:solidFill>
          <a:ln w="4763">
            <a:solidFill>
              <a:srgbClr val="00C2FF">
                <a:alpha val="22000"/>
              </a:srgbClr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057" y="956295"/>
            <a:ext cx="4238625" cy="1428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581227" y="1094408"/>
            <a:ext cx="2491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790" b="1" spc="95" kern="0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BENCHMARKING ENVIRONMENT</a:t>
            </a:r>
            <a:endParaRPr lang="en-US" sz="790" dirty="0"/>
          </a:p>
        </p:txBody>
      </p:sp>
      <p:sp>
        <p:nvSpPr>
          <p:cNvPr id="35" name="Text 30"/>
          <p:cNvSpPr/>
          <p:nvPr/>
        </p:nvSpPr>
        <p:spPr>
          <a:xfrm>
            <a:off x="4581227" y="1317650"/>
            <a:ext cx="6561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Language</a:t>
            </a:r>
            <a:endParaRPr lang="en-US" sz="760" dirty="0"/>
          </a:p>
        </p:txBody>
      </p:sp>
      <p:sp>
        <p:nvSpPr>
          <p:cNvPr id="36" name="Text 31"/>
          <p:cNvSpPr/>
          <p:nvPr/>
        </p:nvSpPr>
        <p:spPr>
          <a:xfrm>
            <a:off x="5404098" y="1322412"/>
            <a:ext cx="27859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 (GCC 12) with OpenSSL 3.x and liboqs 0.10</a:t>
            </a:r>
            <a:endParaRPr lang="en-US" sz="790" dirty="0"/>
          </a:p>
        </p:txBody>
      </p:sp>
      <p:sp>
        <p:nvSpPr>
          <p:cNvPr id="37" name="Text 32"/>
          <p:cNvSpPr/>
          <p:nvPr/>
        </p:nvSpPr>
        <p:spPr>
          <a:xfrm>
            <a:off x="4581227" y="1514847"/>
            <a:ext cx="6561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</a:t>
            </a:r>
            <a:endParaRPr lang="en-US" sz="760" dirty="0"/>
          </a:p>
        </p:txBody>
      </p:sp>
      <p:sp>
        <p:nvSpPr>
          <p:cNvPr id="38" name="Text 33"/>
          <p:cNvSpPr/>
          <p:nvPr/>
        </p:nvSpPr>
        <p:spPr>
          <a:xfrm>
            <a:off x="5404098" y="1519610"/>
            <a:ext cx="304926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Linux x86-64, no hardware accelerators disabled</a:t>
            </a:r>
            <a:endParaRPr lang="en-US" sz="790" dirty="0"/>
          </a:p>
        </p:txBody>
      </p:sp>
      <p:sp>
        <p:nvSpPr>
          <p:cNvPr id="39" name="Text 34"/>
          <p:cNvSpPr/>
          <p:nvPr/>
        </p:nvSpPr>
        <p:spPr>
          <a:xfrm>
            <a:off x="4581227" y="1712044"/>
            <a:ext cx="6561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Sampling</a:t>
            </a:r>
            <a:endParaRPr lang="en-US" sz="760" dirty="0"/>
          </a:p>
        </p:txBody>
      </p:sp>
      <p:sp>
        <p:nvSpPr>
          <p:cNvPr id="40" name="Text 35"/>
          <p:cNvSpPr/>
          <p:nvPr/>
        </p:nvSpPr>
        <p:spPr>
          <a:xfrm>
            <a:off x="5404098" y="1716807"/>
            <a:ext cx="351177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1000 independent trials per operation, median reported</a:t>
            </a:r>
            <a:endParaRPr lang="en-US" sz="790" dirty="0"/>
          </a:p>
        </p:txBody>
      </p:sp>
      <p:sp>
        <p:nvSpPr>
          <p:cNvPr id="41" name="Text 36"/>
          <p:cNvSpPr/>
          <p:nvPr/>
        </p:nvSpPr>
        <p:spPr>
          <a:xfrm>
            <a:off x="4581227" y="1909242"/>
            <a:ext cx="6561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</a:t>
            </a:r>
            <a:endParaRPr lang="en-US" sz="760" dirty="0"/>
          </a:p>
        </p:txBody>
      </p:sp>
      <p:sp>
        <p:nvSpPr>
          <p:cNvPr id="42" name="Text 37"/>
          <p:cNvSpPr/>
          <p:nvPr/>
        </p:nvSpPr>
        <p:spPr>
          <a:xfrm>
            <a:off x="5404098" y="1914004"/>
            <a:ext cx="300205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NIST Level 3 — equivalent to AES-192 bit security</a:t>
            </a:r>
            <a:endParaRPr lang="en-US" sz="790" dirty="0"/>
          </a:p>
        </p:txBody>
      </p:sp>
      <p:sp>
        <p:nvSpPr>
          <p:cNvPr id="43" name="Text 38"/>
          <p:cNvSpPr/>
          <p:nvPr/>
        </p:nvSpPr>
        <p:spPr>
          <a:xfrm>
            <a:off x="4581227" y="2053233"/>
            <a:ext cx="43152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</a:t>
            </a:r>
            <a:endParaRPr lang="en-US" sz="760" dirty="0"/>
          </a:p>
        </p:txBody>
      </p:sp>
      <p:sp>
        <p:nvSpPr>
          <p:cNvPr id="44" name="Shape 39"/>
          <p:cNvSpPr/>
          <p:nvPr/>
        </p:nvSpPr>
        <p:spPr>
          <a:xfrm>
            <a:off x="4393295" y="2428763"/>
            <a:ext cx="4248150" cy="1885950"/>
          </a:xfrm>
          <a:prstGeom prst="roundRect">
            <a:avLst>
              <a:gd name="adj" fmla="val 4040"/>
            </a:avLst>
          </a:prstGeom>
          <a:solidFill>
            <a:srgbClr val="141938"/>
          </a:solidFill>
          <a:ln w="4763">
            <a:solidFill>
              <a:srgbClr val="7C5CFF">
                <a:alpha val="22000"/>
              </a:srgbClr>
            </a:solidFill>
            <a:prstDash val="solid"/>
          </a:ln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057" y="2433414"/>
            <a:ext cx="4238625" cy="1428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4581227" y="2571527"/>
            <a:ext cx="162092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790" b="1" spc="95" kern="0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METRICS MEASURED</a:t>
            </a:r>
            <a:endParaRPr lang="en-US" sz="790" dirty="0"/>
          </a:p>
        </p:txBody>
      </p:sp>
      <p:sp>
        <p:nvSpPr>
          <p:cNvPr id="47" name="Shape 41"/>
          <p:cNvSpPr/>
          <p:nvPr/>
        </p:nvSpPr>
        <p:spPr>
          <a:xfrm>
            <a:off x="4581376" y="2790937"/>
            <a:ext cx="1905000" cy="371475"/>
          </a:xfrm>
          <a:prstGeom prst="roundRect">
            <a:avLst>
              <a:gd name="adj" fmla="val 10256"/>
            </a:avLst>
          </a:prstGeom>
          <a:solidFill>
            <a:srgbClr val="7C5CFF">
              <a:alpha val="7000"/>
            </a:srgbClr>
          </a:solidFill>
          <a:ln w="4763">
            <a:solidFill>
              <a:srgbClr val="7C5CFF">
                <a:alpha val="15000"/>
              </a:srgbClr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677370" y="2846189"/>
            <a:ext cx="131852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generation time</a:t>
            </a:r>
            <a:endParaRPr lang="en-US" sz="790" dirty="0"/>
          </a:p>
        </p:txBody>
      </p:sp>
      <p:sp>
        <p:nvSpPr>
          <p:cNvPr id="49" name="Text 43"/>
          <p:cNvSpPr/>
          <p:nvPr/>
        </p:nvSpPr>
        <p:spPr>
          <a:xfrm>
            <a:off x="4677370" y="2981697"/>
            <a:ext cx="8700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milliseconds</a:t>
            </a:r>
            <a:endParaRPr lang="en-US" sz="680" dirty="0"/>
          </a:p>
        </p:txBody>
      </p:sp>
      <p:sp>
        <p:nvSpPr>
          <p:cNvPr id="50" name="Shape 44"/>
          <p:cNvSpPr/>
          <p:nvPr/>
        </p:nvSpPr>
        <p:spPr>
          <a:xfrm>
            <a:off x="6548363" y="2790937"/>
            <a:ext cx="1905000" cy="371475"/>
          </a:xfrm>
          <a:prstGeom prst="roundRect">
            <a:avLst>
              <a:gd name="adj" fmla="val 10256"/>
            </a:avLst>
          </a:prstGeom>
          <a:solidFill>
            <a:srgbClr val="7C5CFF">
              <a:alpha val="7000"/>
            </a:srgbClr>
          </a:solidFill>
          <a:ln w="4763">
            <a:solidFill>
              <a:srgbClr val="7C5CFF">
                <a:alpha val="15000"/>
              </a:srgbClr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644357" y="2846189"/>
            <a:ext cx="114942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 / Encap time</a:t>
            </a:r>
            <a:endParaRPr lang="en-US" sz="790" dirty="0"/>
          </a:p>
        </p:txBody>
      </p:sp>
      <p:sp>
        <p:nvSpPr>
          <p:cNvPr id="52" name="Text 46"/>
          <p:cNvSpPr/>
          <p:nvPr/>
        </p:nvSpPr>
        <p:spPr>
          <a:xfrm>
            <a:off x="6644357" y="2981697"/>
            <a:ext cx="8700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milliseconds</a:t>
            </a:r>
            <a:endParaRPr lang="en-US" sz="680" dirty="0"/>
          </a:p>
        </p:txBody>
      </p:sp>
      <p:sp>
        <p:nvSpPr>
          <p:cNvPr id="53" name="Shape 47"/>
          <p:cNvSpPr/>
          <p:nvPr/>
        </p:nvSpPr>
        <p:spPr>
          <a:xfrm>
            <a:off x="4581376" y="3225961"/>
            <a:ext cx="1905000" cy="371475"/>
          </a:xfrm>
          <a:prstGeom prst="roundRect">
            <a:avLst>
              <a:gd name="adj" fmla="val 10256"/>
            </a:avLst>
          </a:prstGeom>
          <a:solidFill>
            <a:srgbClr val="7C5CFF">
              <a:alpha val="7000"/>
            </a:srgbClr>
          </a:solidFill>
          <a:ln w="4763">
            <a:solidFill>
              <a:srgbClr val="7C5CFF">
                <a:alpha val="15000"/>
              </a:srgbClr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4677370" y="3281214"/>
            <a:ext cx="12614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Verify / Decap time</a:t>
            </a:r>
            <a:endParaRPr lang="en-US" sz="790" dirty="0"/>
          </a:p>
        </p:txBody>
      </p:sp>
      <p:sp>
        <p:nvSpPr>
          <p:cNvPr id="55" name="Text 49"/>
          <p:cNvSpPr/>
          <p:nvPr/>
        </p:nvSpPr>
        <p:spPr>
          <a:xfrm>
            <a:off x="4677370" y="3416722"/>
            <a:ext cx="8700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milliseconds</a:t>
            </a:r>
            <a:endParaRPr lang="en-US" sz="680" dirty="0"/>
          </a:p>
        </p:txBody>
      </p:sp>
      <p:sp>
        <p:nvSpPr>
          <p:cNvPr id="56" name="Shape 50"/>
          <p:cNvSpPr/>
          <p:nvPr/>
        </p:nvSpPr>
        <p:spPr>
          <a:xfrm>
            <a:off x="6548363" y="3225961"/>
            <a:ext cx="1905000" cy="371475"/>
          </a:xfrm>
          <a:prstGeom prst="roundRect">
            <a:avLst>
              <a:gd name="adj" fmla="val 10256"/>
            </a:avLst>
          </a:prstGeom>
          <a:solidFill>
            <a:srgbClr val="7C5CFF">
              <a:alpha val="7000"/>
            </a:srgbClr>
          </a:solidFill>
          <a:ln w="4763">
            <a:solidFill>
              <a:srgbClr val="7C5CFF">
                <a:alpha val="15000"/>
              </a:srgbClr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6644357" y="3281214"/>
            <a:ext cx="96262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 key size</a:t>
            </a:r>
            <a:endParaRPr lang="en-US" sz="790" dirty="0"/>
          </a:p>
        </p:txBody>
      </p:sp>
      <p:sp>
        <p:nvSpPr>
          <p:cNvPr id="58" name="Text 52"/>
          <p:cNvSpPr/>
          <p:nvPr/>
        </p:nvSpPr>
        <p:spPr>
          <a:xfrm>
            <a:off x="6644357" y="3416722"/>
            <a:ext cx="39592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bytes</a:t>
            </a:r>
            <a:endParaRPr lang="en-US" sz="680" dirty="0"/>
          </a:p>
        </p:txBody>
      </p:sp>
      <p:sp>
        <p:nvSpPr>
          <p:cNvPr id="59" name="Shape 53"/>
          <p:cNvSpPr/>
          <p:nvPr/>
        </p:nvSpPr>
        <p:spPr>
          <a:xfrm>
            <a:off x="4581376" y="3660986"/>
            <a:ext cx="1905000" cy="371475"/>
          </a:xfrm>
          <a:prstGeom prst="roundRect">
            <a:avLst>
              <a:gd name="adj" fmla="val 10256"/>
            </a:avLst>
          </a:prstGeom>
          <a:solidFill>
            <a:srgbClr val="7C5CFF">
              <a:alpha val="7000"/>
            </a:srgbClr>
          </a:solidFill>
          <a:ln w="4763">
            <a:solidFill>
              <a:srgbClr val="7C5CFF">
                <a:alpha val="15000"/>
              </a:srgbClr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4677370" y="3716238"/>
            <a:ext cx="100982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Private key size</a:t>
            </a:r>
            <a:endParaRPr lang="en-US" sz="790" dirty="0"/>
          </a:p>
        </p:txBody>
      </p:sp>
      <p:sp>
        <p:nvSpPr>
          <p:cNvPr id="61" name="Text 55"/>
          <p:cNvSpPr/>
          <p:nvPr/>
        </p:nvSpPr>
        <p:spPr>
          <a:xfrm>
            <a:off x="4677370" y="3851746"/>
            <a:ext cx="39592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bytes</a:t>
            </a:r>
            <a:endParaRPr lang="en-US" sz="680" dirty="0"/>
          </a:p>
        </p:txBody>
      </p:sp>
      <p:sp>
        <p:nvSpPr>
          <p:cNvPr id="62" name="Shape 56"/>
          <p:cNvSpPr/>
          <p:nvPr/>
        </p:nvSpPr>
        <p:spPr>
          <a:xfrm>
            <a:off x="6548363" y="3660986"/>
            <a:ext cx="1905000" cy="371475"/>
          </a:xfrm>
          <a:prstGeom prst="roundRect">
            <a:avLst>
              <a:gd name="adj" fmla="val 10256"/>
            </a:avLst>
          </a:prstGeom>
          <a:solidFill>
            <a:srgbClr val="7C5CFF">
              <a:alpha val="7000"/>
            </a:srgbClr>
          </a:solidFill>
          <a:ln w="4763">
            <a:solidFill>
              <a:srgbClr val="7C5CFF">
                <a:alpha val="15000"/>
              </a:srgbClr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6644357" y="3716238"/>
            <a:ext cx="169657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Signature / ciphertext size</a:t>
            </a:r>
            <a:endParaRPr lang="en-US" sz="790" dirty="0"/>
          </a:p>
        </p:txBody>
      </p:sp>
      <p:sp>
        <p:nvSpPr>
          <p:cNvPr id="64" name="Text 58"/>
          <p:cNvSpPr/>
          <p:nvPr/>
        </p:nvSpPr>
        <p:spPr>
          <a:xfrm>
            <a:off x="6644357" y="3851746"/>
            <a:ext cx="39592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bytes</a:t>
            </a:r>
            <a:endParaRPr lang="en-US" sz="680" dirty="0"/>
          </a:p>
        </p:txBody>
      </p:sp>
      <p:sp>
        <p:nvSpPr>
          <p:cNvPr id="65" name="Shape 59"/>
          <p:cNvSpPr/>
          <p:nvPr/>
        </p:nvSpPr>
        <p:spPr>
          <a:xfrm>
            <a:off x="4393295" y="4418186"/>
            <a:ext cx="4248150" cy="519112"/>
          </a:xfrm>
          <a:prstGeom prst="roundRect">
            <a:avLst>
              <a:gd name="adj" fmla="val 11009"/>
            </a:avLst>
          </a:prstGeom>
          <a:solidFill>
            <a:srgbClr val="20E3B2">
              <a:alpha val="7000"/>
            </a:srgbClr>
          </a:solidFill>
          <a:ln w="4763">
            <a:solidFill>
              <a:srgbClr val="20E3B2">
                <a:alpha val="22000"/>
              </a:srgbClr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4535537" y="4509046"/>
            <a:ext cx="4892903" cy="33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3"/>
              </a:lnSpc>
              <a:buNone/>
            </a:pPr>
            <a:r>
              <a:rPr lang="en-US" sz="940" i="1" dirty="0">
                <a:solidFill>
                  <a:srgbClr val="C9D1F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core novelty: a unified, reproducible head-to-head comparison of</a:t>
            </a:r>
            <a:endParaRPr lang="en-US" sz="940" dirty="0"/>
          </a:p>
          <a:p>
            <a:pPr algn="l" indent="0" marL="0">
              <a:lnSpc>
                <a:spcPts val="1403"/>
              </a:lnSpc>
              <a:buNone/>
            </a:pPr>
            <a:r>
              <a:rPr lang="en-US" sz="940" i="1" dirty="0">
                <a:solidFill>
                  <a:srgbClr val="C9D1F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classical and PQC primitives under identical conditions.</a:t>
            </a:r>
            <a:endParaRPr lang="en-US" sz="940" dirty="0"/>
          </a:p>
        </p:txBody>
      </p:sp>
      <p:sp>
        <p:nvSpPr>
          <p:cNvPr id="67" name="Text 61"/>
          <p:cNvSpPr/>
          <p:nvPr/>
        </p:nvSpPr>
        <p:spPr>
          <a:xfrm>
            <a:off x="8262789" y="4895850"/>
            <a:ext cx="548967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 / 20</a:t>
            </a:r>
            <a:endParaRPr lang="en-US" sz="8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890" y="228600"/>
            <a:ext cx="8290835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Mathematical Backbone of Modern Cryptography</a:t>
            </a:r>
            <a:endParaRPr lang="en-US" sz="2230" dirty="0"/>
          </a:p>
        </p:txBody>
      </p:sp>
      <p:sp>
        <p:nvSpPr>
          <p:cNvPr id="6" name="Text 2"/>
          <p:cNvSpPr/>
          <p:nvPr/>
        </p:nvSpPr>
        <p:spPr>
          <a:xfrm>
            <a:off x="502890" y="633710"/>
            <a:ext cx="529707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Four foundational pillars shared by classical and post-quantum schemes</a:t>
            </a:r>
            <a:endParaRPr lang="en-US" sz="940" dirty="0"/>
          </a:p>
        </p:txBody>
      </p:sp>
      <p:sp>
        <p:nvSpPr>
          <p:cNvPr id="7" name="Shape 3"/>
          <p:cNvSpPr/>
          <p:nvPr/>
        </p:nvSpPr>
        <p:spPr>
          <a:xfrm>
            <a:off x="503858" y="957783"/>
            <a:ext cx="3952875" cy="1924050"/>
          </a:xfrm>
          <a:prstGeom prst="roundRect">
            <a:avLst>
              <a:gd name="adj" fmla="val 2970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53" y="962546"/>
            <a:ext cx="14288" cy="19145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6253" y="1125215"/>
            <a:ext cx="220754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1150" b="1" dirty="0">
                <a:solidFill>
                  <a:srgbClr val="00C2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Entropy and Uncertainty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737220" y="1396045"/>
            <a:ext cx="3486150" cy="323850"/>
          </a:xfrm>
          <a:prstGeom prst="roundRect">
            <a:avLst>
              <a:gd name="adj" fmla="val 8824"/>
            </a:avLst>
          </a:prstGeom>
          <a:solidFill>
            <a:srgbClr val="00C2FF">
              <a:alpha val="7000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845939" y="1468041"/>
            <a:ext cx="25385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dirty="0">
                <a:solidFill>
                  <a:srgbClr val="C9D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H(X) = −Σ p(x) log₂ p(x)</a:t>
            </a:r>
            <a:endParaRPr lang="en-US" sz="1040" dirty="0"/>
          </a:p>
        </p:txBody>
      </p:sp>
      <p:sp>
        <p:nvSpPr>
          <p:cNvPr id="12" name="Text 7"/>
          <p:cNvSpPr/>
          <p:nvPr/>
        </p:nvSpPr>
        <p:spPr>
          <a:xfrm>
            <a:off x="736253" y="1800597"/>
            <a:ext cx="451707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Quantifies unpredictability — the foundation of key-space security</a:t>
            </a:r>
            <a:endParaRPr lang="en-US" sz="860" dirty="0"/>
          </a:p>
        </p:txBody>
      </p:sp>
      <p:sp>
        <p:nvSpPr>
          <p:cNvPr id="13" name="Shape 8"/>
          <p:cNvSpPr/>
          <p:nvPr/>
        </p:nvSpPr>
        <p:spPr>
          <a:xfrm>
            <a:off x="4687267" y="957783"/>
            <a:ext cx="3952875" cy="1924050"/>
          </a:xfrm>
          <a:prstGeom prst="roundRect">
            <a:avLst>
              <a:gd name="adj" fmla="val 2970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063" y="962546"/>
            <a:ext cx="14288" cy="19145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19663" y="1125215"/>
            <a:ext cx="139794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1150" b="1" dirty="0">
                <a:solidFill>
                  <a:srgbClr val="7C5C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Perfect Secrecy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4920630" y="1396045"/>
            <a:ext cx="3486150" cy="323850"/>
          </a:xfrm>
          <a:prstGeom prst="roundRect">
            <a:avLst>
              <a:gd name="adj" fmla="val 8824"/>
            </a:avLst>
          </a:prstGeom>
          <a:solidFill>
            <a:srgbClr val="7C5CFF">
              <a:alpha val="7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5029349" y="1468041"/>
            <a:ext cx="16078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dirty="0">
                <a:solidFill>
                  <a:srgbClr val="C9D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P(M | C) = P(M)</a:t>
            </a:r>
            <a:endParaRPr lang="en-US" sz="1040" dirty="0"/>
          </a:p>
        </p:txBody>
      </p:sp>
      <p:sp>
        <p:nvSpPr>
          <p:cNvPr id="18" name="Text 12"/>
          <p:cNvSpPr/>
          <p:nvPr/>
        </p:nvSpPr>
        <p:spPr>
          <a:xfrm>
            <a:off x="4919663" y="1800597"/>
            <a:ext cx="4138441" cy="302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Ciphertext must reveal zero information about the plaintext —</a:t>
            </a:r>
            <a:endParaRPr lang="en-US" sz="86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Shannon's ideal</a:t>
            </a:r>
            <a:endParaRPr lang="en-US" sz="860" dirty="0"/>
          </a:p>
        </p:txBody>
      </p:sp>
      <p:sp>
        <p:nvSpPr>
          <p:cNvPr id="19" name="Shape 13"/>
          <p:cNvSpPr/>
          <p:nvPr/>
        </p:nvSpPr>
        <p:spPr>
          <a:xfrm>
            <a:off x="503858" y="3012653"/>
            <a:ext cx="3952875" cy="1924050"/>
          </a:xfrm>
          <a:prstGeom prst="roundRect">
            <a:avLst>
              <a:gd name="adj" fmla="val 2970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53" y="3017416"/>
            <a:ext cx="14288" cy="19145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6253" y="3180085"/>
            <a:ext cx="150019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1150" b="1" dirty="0">
                <a:solidFill>
                  <a:srgbClr val="20E3B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Modular Inverse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737220" y="3450915"/>
            <a:ext cx="3486150" cy="323850"/>
          </a:xfrm>
          <a:prstGeom prst="roundRect">
            <a:avLst>
              <a:gd name="adj" fmla="val 8824"/>
            </a:avLst>
          </a:prstGeom>
          <a:solidFill>
            <a:srgbClr val="20E3B2">
              <a:alpha val="7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845939" y="3522911"/>
            <a:ext cx="19186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dirty="0">
                <a:solidFill>
                  <a:srgbClr val="C9D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≡ e⁻¹ (mod φ(N))</a:t>
            </a:r>
            <a:endParaRPr lang="en-US" sz="1040" dirty="0"/>
          </a:p>
        </p:txBody>
      </p:sp>
      <p:sp>
        <p:nvSpPr>
          <p:cNvPr id="24" name="Text 17"/>
          <p:cNvSpPr/>
          <p:nvPr/>
        </p:nvSpPr>
        <p:spPr>
          <a:xfrm>
            <a:off x="736253" y="3855467"/>
            <a:ext cx="3975341" cy="302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Extended Euclidean algorithm; the basis of RSA private key</a:t>
            </a:r>
            <a:endParaRPr lang="en-US" sz="86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generation</a:t>
            </a:r>
            <a:endParaRPr lang="en-US" sz="860" dirty="0"/>
          </a:p>
        </p:txBody>
      </p:sp>
      <p:sp>
        <p:nvSpPr>
          <p:cNvPr id="25" name="Shape 18"/>
          <p:cNvSpPr/>
          <p:nvPr/>
        </p:nvSpPr>
        <p:spPr>
          <a:xfrm>
            <a:off x="4687267" y="3012653"/>
            <a:ext cx="3952875" cy="1924050"/>
          </a:xfrm>
          <a:prstGeom prst="roundRect">
            <a:avLst>
              <a:gd name="adj" fmla="val 2970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1063" y="3017416"/>
            <a:ext cx="14288" cy="19145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919663" y="3180085"/>
            <a:ext cx="181672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1150" b="1" dirty="0">
                <a:solidFill>
                  <a:srgbClr val="FF5C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Security Reductions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4920630" y="3450915"/>
            <a:ext cx="3486150" cy="323850"/>
          </a:xfrm>
          <a:prstGeom prst="roundRect">
            <a:avLst>
              <a:gd name="adj" fmla="val 8824"/>
            </a:avLst>
          </a:prstGeom>
          <a:solidFill>
            <a:srgbClr val="FF5C5C">
              <a:alpha val="7000"/>
            </a:srgbClr>
          </a:solidFill>
          <a:ln/>
        </p:spPr>
      </p:sp>
      <p:sp>
        <p:nvSpPr>
          <p:cNvPr id="29" name="Text 21"/>
          <p:cNvSpPr/>
          <p:nvPr/>
        </p:nvSpPr>
        <p:spPr>
          <a:xfrm>
            <a:off x="5029349" y="3522911"/>
            <a:ext cx="247502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dirty="0">
                <a:solidFill>
                  <a:srgbClr val="C9D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Break Scheme ⟹ Solve H</a:t>
            </a:r>
            <a:endParaRPr lang="en-US" sz="1040" dirty="0"/>
          </a:p>
        </p:txBody>
      </p:sp>
      <p:sp>
        <p:nvSpPr>
          <p:cNvPr id="30" name="Text 22"/>
          <p:cNvSpPr/>
          <p:nvPr/>
        </p:nvSpPr>
        <p:spPr>
          <a:xfrm>
            <a:off x="4919663" y="3855467"/>
            <a:ext cx="4492407" cy="302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Breaking a secure scheme implies solving a provably hard problem</a:t>
            </a:r>
            <a:endParaRPr lang="en-US" sz="86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the proof technique underlying all modern cryptography</a:t>
            </a:r>
            <a:endParaRPr lang="en-US" sz="860" dirty="0"/>
          </a:p>
        </p:txBody>
      </p:sp>
      <p:sp>
        <p:nvSpPr>
          <p:cNvPr id="31" name="Text 23"/>
          <p:cNvSpPr/>
          <p:nvPr/>
        </p:nvSpPr>
        <p:spPr>
          <a:xfrm>
            <a:off x="8264872" y="4895850"/>
            <a:ext cx="54625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 / 20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890" y="228600"/>
            <a:ext cx="7931936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Classical Public-Key Cryptography in One View</a:t>
            </a:r>
            <a:endParaRPr lang="en-US" sz="2230" dirty="0"/>
          </a:p>
        </p:txBody>
      </p:sp>
      <p:sp>
        <p:nvSpPr>
          <p:cNvPr id="6" name="Shape 2"/>
          <p:cNvSpPr/>
          <p:nvPr/>
        </p:nvSpPr>
        <p:spPr>
          <a:xfrm>
            <a:off x="503858" y="736625"/>
            <a:ext cx="3952875" cy="3700463"/>
          </a:xfrm>
          <a:prstGeom prst="roundRect">
            <a:avLst>
              <a:gd name="adj" fmla="val 2059"/>
            </a:avLst>
          </a:prstGeom>
          <a:solidFill>
            <a:srgbClr val="141938"/>
          </a:solidFill>
          <a:ln w="4763">
            <a:solidFill>
              <a:srgbClr val="00C2FF">
                <a:alpha val="25000"/>
              </a:srgbClr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20" y="742131"/>
            <a:ext cx="3943350" cy="1428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6699" y="896838"/>
            <a:ext cx="319088" cy="319088"/>
          </a:xfrm>
          <a:prstGeom prst="roundRect">
            <a:avLst>
              <a:gd name="adj" fmla="val 11940"/>
            </a:avLst>
          </a:prstGeom>
          <a:solidFill>
            <a:srgbClr val="00C2FF">
              <a:alpha val="12000"/>
            </a:srgbClr>
          </a:solidFill>
          <a:ln w="4763">
            <a:solidFill>
              <a:srgbClr val="00C2FF">
                <a:alpha val="25000"/>
              </a:srgbClr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31639" y="963067"/>
            <a:ext cx="4851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N=pq</a:t>
            </a:r>
            <a:endParaRPr lang="en-US" sz="1080" dirty="0"/>
          </a:p>
        </p:txBody>
      </p:sp>
      <p:sp>
        <p:nvSpPr>
          <p:cNvPr id="10" name="Text 5"/>
          <p:cNvSpPr/>
          <p:nvPr/>
        </p:nvSpPr>
        <p:spPr>
          <a:xfrm>
            <a:off x="1147614" y="928688"/>
            <a:ext cx="5159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0C2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RSA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736253" y="1354485"/>
            <a:ext cx="199259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830" b="1" spc="83" kern="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HARDNESS ASSUMPTION</a:t>
            </a:r>
            <a:endParaRPr lang="en-US" sz="830" dirty="0"/>
          </a:p>
        </p:txBody>
      </p:sp>
      <p:sp>
        <p:nvSpPr>
          <p:cNvPr id="12" name="Shape 7"/>
          <p:cNvSpPr/>
          <p:nvPr/>
        </p:nvSpPr>
        <p:spPr>
          <a:xfrm>
            <a:off x="737220" y="1580517"/>
            <a:ext cx="3486150" cy="309562"/>
          </a:xfrm>
          <a:prstGeom prst="roundRect">
            <a:avLst>
              <a:gd name="adj" fmla="val 12308"/>
            </a:avLst>
          </a:prstGeom>
          <a:solidFill>
            <a:srgbClr val="00C2FF">
              <a:alpha val="6000"/>
            </a:srgbClr>
          </a:solidFill>
          <a:ln w="4763">
            <a:solidFill>
              <a:srgbClr val="00C2FF">
                <a:alpha val="15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50702" y="1655713"/>
            <a:ext cx="274531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C9D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Integer Factorisation Problem</a:t>
            </a:r>
            <a:endParaRPr lang="en-US" sz="940" dirty="0"/>
          </a:p>
        </p:txBody>
      </p:sp>
      <p:sp>
        <p:nvSpPr>
          <p:cNvPr id="14" name="Shape 9"/>
          <p:cNvSpPr/>
          <p:nvPr/>
        </p:nvSpPr>
        <p:spPr>
          <a:xfrm>
            <a:off x="735583" y="2054721"/>
            <a:ext cx="33337" cy="33337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15" name="Text 10"/>
          <p:cNvSpPr/>
          <p:nvPr/>
        </p:nvSpPr>
        <p:spPr>
          <a:xfrm>
            <a:off x="841400" y="2028974"/>
            <a:ext cx="3754777" cy="330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3"/>
              </a:lnSpc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Large modulus N = pq; security rests on difficulty of</a:t>
            </a:r>
            <a:endParaRPr lang="en-US" sz="940" dirty="0"/>
          </a:p>
          <a:p>
            <a:pPr algn="l" indent="0" marL="0">
              <a:lnSpc>
                <a:spcPts val="1403"/>
              </a:lnSpc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recovering p and q</a:t>
            </a:r>
            <a:endParaRPr lang="en-US" sz="940" dirty="0"/>
          </a:p>
        </p:txBody>
      </p:sp>
      <p:sp>
        <p:nvSpPr>
          <p:cNvPr id="16" name="Shape 11"/>
          <p:cNvSpPr/>
          <p:nvPr/>
        </p:nvSpPr>
        <p:spPr>
          <a:xfrm>
            <a:off x="735583" y="2488257"/>
            <a:ext cx="33337" cy="33337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17" name="Text 12"/>
          <p:cNvSpPr/>
          <p:nvPr/>
        </p:nvSpPr>
        <p:spPr>
          <a:xfrm>
            <a:off x="841400" y="2462510"/>
            <a:ext cx="4056504" cy="330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3"/>
              </a:lnSpc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Conceptually simple structure; operationally costly key</a:t>
            </a:r>
            <a:endParaRPr lang="en-US" sz="940" dirty="0"/>
          </a:p>
          <a:p>
            <a:pPr algn="l" indent="0" marL="0">
              <a:lnSpc>
                <a:spcPts val="1403"/>
              </a:lnSpc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generation</a:t>
            </a:r>
            <a:endParaRPr lang="en-US" sz="940" dirty="0"/>
          </a:p>
        </p:txBody>
      </p:sp>
      <p:sp>
        <p:nvSpPr>
          <p:cNvPr id="18" name="Shape 13"/>
          <p:cNvSpPr/>
          <p:nvPr/>
        </p:nvSpPr>
        <p:spPr>
          <a:xfrm>
            <a:off x="735583" y="2921794"/>
            <a:ext cx="33337" cy="33337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19" name="Text 14"/>
          <p:cNvSpPr/>
          <p:nvPr/>
        </p:nvSpPr>
        <p:spPr>
          <a:xfrm>
            <a:off x="841400" y="2896046"/>
            <a:ext cx="4182264" cy="330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3"/>
              </a:lnSpc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Large key sizes (2048–4096 bits); slower and bulkier than</a:t>
            </a:r>
            <a:endParaRPr lang="en-US" sz="940" dirty="0"/>
          </a:p>
          <a:p>
            <a:pPr algn="l" indent="0" marL="0">
              <a:lnSpc>
                <a:spcPts val="1403"/>
              </a:lnSpc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ECC</a:t>
            </a:r>
            <a:endParaRPr lang="en-US" sz="940" dirty="0"/>
          </a:p>
        </p:txBody>
      </p:sp>
      <p:sp>
        <p:nvSpPr>
          <p:cNvPr id="20" name="Shape 15"/>
          <p:cNvSpPr/>
          <p:nvPr/>
        </p:nvSpPr>
        <p:spPr>
          <a:xfrm>
            <a:off x="737220" y="3370920"/>
            <a:ext cx="3486150" cy="457200"/>
          </a:xfrm>
          <a:prstGeom prst="roundRect">
            <a:avLst>
              <a:gd name="adj" fmla="val 8333"/>
            </a:avLst>
          </a:prstGeom>
          <a:solidFill>
            <a:srgbClr val="00C2FF">
              <a:alpha val="5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1394445" y="3453408"/>
            <a:ext cx="39941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e, N</a:t>
            </a:r>
            <a:endParaRPr lang="en-US" sz="860" dirty="0"/>
          </a:p>
        </p:txBody>
      </p:sp>
      <p:sp>
        <p:nvSpPr>
          <p:cNvPr id="22" name="Text 17"/>
          <p:cNvSpPr/>
          <p:nvPr/>
        </p:nvSpPr>
        <p:spPr>
          <a:xfrm>
            <a:off x="1305669" y="3622774"/>
            <a:ext cx="63022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 key</a:t>
            </a:r>
            <a:endParaRPr lang="en-US" sz="720" dirty="0"/>
          </a:p>
        </p:txBody>
      </p:sp>
      <p:sp>
        <p:nvSpPr>
          <p:cNvPr id="23" name="Shape 18"/>
          <p:cNvSpPr/>
          <p:nvPr/>
        </p:nvSpPr>
        <p:spPr>
          <a:xfrm>
            <a:off x="1884573" y="3597101"/>
            <a:ext cx="180975" cy="4763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2306613" y="3453408"/>
            <a:ext cx="39941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d, N</a:t>
            </a:r>
            <a:endParaRPr lang="en-US" sz="860" dirty="0"/>
          </a:p>
        </p:txBody>
      </p:sp>
      <p:sp>
        <p:nvSpPr>
          <p:cNvPr id="25" name="Text 20"/>
          <p:cNvSpPr/>
          <p:nvPr/>
        </p:nvSpPr>
        <p:spPr>
          <a:xfrm>
            <a:off x="2203624" y="3622774"/>
            <a:ext cx="66718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private key</a:t>
            </a:r>
            <a:endParaRPr lang="en-US" sz="720" dirty="0"/>
          </a:p>
        </p:txBody>
      </p:sp>
      <p:sp>
        <p:nvSpPr>
          <p:cNvPr id="26" name="Shape 21"/>
          <p:cNvSpPr/>
          <p:nvPr/>
        </p:nvSpPr>
        <p:spPr>
          <a:xfrm>
            <a:off x="2810954" y="3597101"/>
            <a:ext cx="180975" cy="4763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3260750" y="3453408"/>
            <a:ext cx="39941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φ(N)</a:t>
            </a:r>
            <a:endParaRPr lang="en-US" sz="860" dirty="0"/>
          </a:p>
        </p:txBody>
      </p:sp>
      <p:sp>
        <p:nvSpPr>
          <p:cNvPr id="28" name="Text 23"/>
          <p:cNvSpPr/>
          <p:nvPr/>
        </p:nvSpPr>
        <p:spPr>
          <a:xfrm>
            <a:off x="3130004" y="3622774"/>
            <a:ext cx="7394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Euler totient</a:t>
            </a:r>
            <a:endParaRPr lang="en-US" sz="720" dirty="0"/>
          </a:p>
        </p:txBody>
      </p:sp>
      <p:sp>
        <p:nvSpPr>
          <p:cNvPr id="29" name="Shape 24"/>
          <p:cNvSpPr/>
          <p:nvPr/>
        </p:nvSpPr>
        <p:spPr>
          <a:xfrm>
            <a:off x="4687267" y="736625"/>
            <a:ext cx="3952875" cy="3700463"/>
          </a:xfrm>
          <a:prstGeom prst="roundRect">
            <a:avLst>
              <a:gd name="adj" fmla="val 2059"/>
            </a:avLst>
          </a:prstGeom>
          <a:solidFill>
            <a:srgbClr val="141938"/>
          </a:solidFill>
          <a:ln w="4763">
            <a:solidFill>
              <a:srgbClr val="7C5CFF">
                <a:alpha val="2500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030" y="742131"/>
            <a:ext cx="3943350" cy="14288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4920109" y="896838"/>
            <a:ext cx="319088" cy="319088"/>
          </a:xfrm>
          <a:prstGeom prst="roundRect">
            <a:avLst>
              <a:gd name="adj" fmla="val 11940"/>
            </a:avLst>
          </a:prstGeom>
          <a:solidFill>
            <a:srgbClr val="7C5CFF">
              <a:alpha val="12000"/>
            </a:srgbClr>
          </a:solidFill>
          <a:ln w="4763">
            <a:solidFill>
              <a:srgbClr val="7C5CFF">
                <a:alpha val="2500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997351" y="963067"/>
            <a:ext cx="27113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kG</a:t>
            </a:r>
            <a:endParaRPr lang="en-US" sz="1080" dirty="0"/>
          </a:p>
        </p:txBody>
      </p:sp>
      <p:sp>
        <p:nvSpPr>
          <p:cNvPr id="33" name="Text 27"/>
          <p:cNvSpPr/>
          <p:nvPr/>
        </p:nvSpPr>
        <p:spPr>
          <a:xfrm>
            <a:off x="5331023" y="928688"/>
            <a:ext cx="153831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7C5C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ECC / ECDSA</a:t>
            </a:r>
            <a:endParaRPr lang="en-US" sz="1440" dirty="0"/>
          </a:p>
        </p:txBody>
      </p:sp>
      <p:sp>
        <p:nvSpPr>
          <p:cNvPr id="34" name="Text 28"/>
          <p:cNvSpPr/>
          <p:nvPr/>
        </p:nvSpPr>
        <p:spPr>
          <a:xfrm>
            <a:off x="4919663" y="1354485"/>
            <a:ext cx="199259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830" b="1" spc="83" kern="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HARDNESS ASSUMPTION</a:t>
            </a:r>
            <a:endParaRPr lang="en-US" sz="830" dirty="0"/>
          </a:p>
        </p:txBody>
      </p:sp>
      <p:sp>
        <p:nvSpPr>
          <p:cNvPr id="35" name="Shape 29"/>
          <p:cNvSpPr/>
          <p:nvPr/>
        </p:nvSpPr>
        <p:spPr>
          <a:xfrm>
            <a:off x="4920630" y="1580517"/>
            <a:ext cx="3486150" cy="309562"/>
          </a:xfrm>
          <a:prstGeom prst="roundRect">
            <a:avLst>
              <a:gd name="adj" fmla="val 12308"/>
            </a:avLst>
          </a:prstGeom>
          <a:solidFill>
            <a:srgbClr val="7C5CFF">
              <a:alpha val="6000"/>
            </a:srgbClr>
          </a:solidFill>
          <a:ln w="4763">
            <a:solidFill>
              <a:srgbClr val="7C5CFF">
                <a:alpha val="15000"/>
              </a:srgbClr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034111" y="1655713"/>
            <a:ext cx="311611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C9D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Elliptic Curve Discrete Logarithm</a:t>
            </a:r>
            <a:endParaRPr lang="en-US" sz="940" dirty="0"/>
          </a:p>
        </p:txBody>
      </p:sp>
      <p:sp>
        <p:nvSpPr>
          <p:cNvPr id="37" name="Shape 31"/>
          <p:cNvSpPr/>
          <p:nvPr/>
        </p:nvSpPr>
        <p:spPr>
          <a:xfrm>
            <a:off x="4918993" y="2054721"/>
            <a:ext cx="33337" cy="33337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8" name="Text 32"/>
          <p:cNvSpPr/>
          <p:nvPr/>
        </p:nvSpPr>
        <p:spPr>
          <a:xfrm>
            <a:off x="5024810" y="2028974"/>
            <a:ext cx="374907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Smaller keys with stronger security per bit than RSA</a:t>
            </a:r>
            <a:endParaRPr lang="en-US" sz="940" dirty="0"/>
          </a:p>
        </p:txBody>
      </p:sp>
      <p:sp>
        <p:nvSpPr>
          <p:cNvPr id="39" name="Shape 33"/>
          <p:cNvSpPr/>
          <p:nvPr/>
        </p:nvSpPr>
        <p:spPr>
          <a:xfrm>
            <a:off x="4918993" y="2310036"/>
            <a:ext cx="33337" cy="33337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0" name="Text 34"/>
          <p:cNvSpPr/>
          <p:nvPr/>
        </p:nvSpPr>
        <p:spPr>
          <a:xfrm>
            <a:off x="5024810" y="2284288"/>
            <a:ext cx="44446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Scalar multiplication on curve points is efficient and one-way</a:t>
            </a:r>
            <a:endParaRPr lang="en-US" sz="940" dirty="0"/>
          </a:p>
        </p:txBody>
      </p:sp>
      <p:sp>
        <p:nvSpPr>
          <p:cNvPr id="41" name="Shape 35"/>
          <p:cNvSpPr/>
          <p:nvPr/>
        </p:nvSpPr>
        <p:spPr>
          <a:xfrm>
            <a:off x="4918993" y="2565350"/>
            <a:ext cx="33337" cy="33337"/>
          </a:xfrm>
          <a:prstGeom prst="ellipse">
            <a:avLst/>
          </a:prstGeom>
          <a:solidFill>
            <a:srgbClr val="FF5C5C"/>
          </a:solidFill>
          <a:ln/>
        </p:spPr>
      </p:sp>
      <p:sp>
        <p:nvSpPr>
          <p:cNvPr id="42" name="Text 36"/>
          <p:cNvSpPr/>
          <p:nvPr/>
        </p:nvSpPr>
        <p:spPr>
          <a:xfrm>
            <a:off x="5024810" y="2539603"/>
            <a:ext cx="414163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Signature security depends critically on nonce discipline</a:t>
            </a:r>
            <a:endParaRPr lang="en-US" sz="940" dirty="0"/>
          </a:p>
        </p:txBody>
      </p:sp>
      <p:sp>
        <p:nvSpPr>
          <p:cNvPr id="43" name="Shape 37"/>
          <p:cNvSpPr/>
          <p:nvPr/>
        </p:nvSpPr>
        <p:spPr>
          <a:xfrm>
            <a:off x="4920630" y="2836255"/>
            <a:ext cx="3486150" cy="457200"/>
          </a:xfrm>
          <a:prstGeom prst="roundRect">
            <a:avLst>
              <a:gd name="adj" fmla="val 8333"/>
            </a:avLst>
          </a:prstGeom>
          <a:solidFill>
            <a:srgbClr val="7C5CFF">
              <a:alpha val="5000"/>
            </a:srgbClr>
          </a:solidFill>
          <a:ln/>
        </p:spPr>
      </p:sp>
      <p:sp>
        <p:nvSpPr>
          <p:cNvPr id="44" name="Text 38"/>
          <p:cNvSpPr/>
          <p:nvPr/>
        </p:nvSpPr>
        <p:spPr>
          <a:xfrm>
            <a:off x="5577111" y="2918743"/>
            <a:ext cx="14276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</a:t>
            </a:r>
            <a:endParaRPr lang="en-US" sz="860" dirty="0"/>
          </a:p>
        </p:txBody>
      </p:sp>
      <p:sp>
        <p:nvSpPr>
          <p:cNvPr id="45" name="Text 39"/>
          <p:cNvSpPr/>
          <p:nvPr/>
        </p:nvSpPr>
        <p:spPr>
          <a:xfrm>
            <a:off x="5324177" y="3088109"/>
            <a:ext cx="80039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private scalar</a:t>
            </a:r>
            <a:endParaRPr lang="en-US" sz="720" dirty="0"/>
          </a:p>
        </p:txBody>
      </p:sp>
      <p:sp>
        <p:nvSpPr>
          <p:cNvPr id="46" name="Shape 40"/>
          <p:cNvSpPr/>
          <p:nvPr/>
        </p:nvSpPr>
        <p:spPr>
          <a:xfrm>
            <a:off x="6033976" y="3062436"/>
            <a:ext cx="180975" cy="4763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7" name="Text 41"/>
          <p:cNvSpPr/>
          <p:nvPr/>
        </p:nvSpPr>
        <p:spPr>
          <a:xfrm>
            <a:off x="6413599" y="2918743"/>
            <a:ext cx="570540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 = dG</a:t>
            </a:r>
            <a:endParaRPr lang="en-US" sz="860" dirty="0"/>
          </a:p>
        </p:txBody>
      </p:sp>
      <p:sp>
        <p:nvSpPr>
          <p:cNvPr id="48" name="Text 42"/>
          <p:cNvSpPr/>
          <p:nvPr/>
        </p:nvSpPr>
        <p:spPr>
          <a:xfrm>
            <a:off x="6353026" y="3088109"/>
            <a:ext cx="72803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 point</a:t>
            </a:r>
            <a:endParaRPr lang="en-US" sz="720" dirty="0"/>
          </a:p>
        </p:txBody>
      </p:sp>
      <p:sp>
        <p:nvSpPr>
          <p:cNvPr id="49" name="Shape 43"/>
          <p:cNvSpPr/>
          <p:nvPr/>
        </p:nvSpPr>
        <p:spPr>
          <a:xfrm>
            <a:off x="7007163" y="3062436"/>
            <a:ext cx="180975" cy="4763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0" name="Text 44"/>
          <p:cNvSpPr/>
          <p:nvPr/>
        </p:nvSpPr>
        <p:spPr>
          <a:xfrm>
            <a:off x="7631757" y="2918743"/>
            <a:ext cx="14276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</a:t>
            </a:r>
            <a:endParaRPr lang="en-US" sz="860" dirty="0"/>
          </a:p>
        </p:txBody>
      </p:sp>
      <p:sp>
        <p:nvSpPr>
          <p:cNvPr id="51" name="Text 45"/>
          <p:cNvSpPr/>
          <p:nvPr/>
        </p:nvSpPr>
        <p:spPr>
          <a:xfrm>
            <a:off x="7326213" y="3088109"/>
            <a:ext cx="9371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generator point</a:t>
            </a:r>
            <a:endParaRPr lang="en-US" sz="720" dirty="0"/>
          </a:p>
        </p:txBody>
      </p:sp>
      <p:sp>
        <p:nvSpPr>
          <p:cNvPr id="52" name="Shape 46"/>
          <p:cNvSpPr/>
          <p:nvPr/>
        </p:nvSpPr>
        <p:spPr>
          <a:xfrm>
            <a:off x="502444" y="4565638"/>
            <a:ext cx="8139112" cy="371475"/>
          </a:xfrm>
          <a:prstGeom prst="roundRect">
            <a:avLst>
              <a:gd name="adj" fmla="val 15385"/>
            </a:avLst>
          </a:prstGeom>
          <a:solidFill>
            <a:srgbClr val="FFFFFF">
              <a:alpha val="4000"/>
            </a:srgbClr>
          </a:solidFill>
          <a:ln w="4763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1500634" y="4661446"/>
            <a:ext cx="804270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i="1" dirty="0">
                <a:solidFill>
                  <a:srgbClr val="C9D1F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Classical systems are elegant and mathematically mature — but both are vulnerable to Shor's algorithm.</a:t>
            </a:r>
            <a:endParaRPr lang="en-US" sz="1040" dirty="0"/>
          </a:p>
        </p:txBody>
      </p:sp>
      <p:sp>
        <p:nvSpPr>
          <p:cNvPr id="54" name="Text 48"/>
          <p:cNvSpPr/>
          <p:nvPr/>
        </p:nvSpPr>
        <p:spPr>
          <a:xfrm>
            <a:off x="8270751" y="4895850"/>
            <a:ext cx="53861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 / 20</a:t>
            </a:r>
            <a:endParaRPr lang="en-US" sz="8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890" y="228600"/>
            <a:ext cx="3148132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RSA: Step-by-Step</a:t>
            </a:r>
            <a:endParaRPr lang="en-US" sz="2230" dirty="0"/>
          </a:p>
        </p:txBody>
      </p:sp>
      <p:sp>
        <p:nvSpPr>
          <p:cNvPr id="6" name="Shape 2"/>
          <p:cNvSpPr/>
          <p:nvPr/>
        </p:nvSpPr>
        <p:spPr>
          <a:xfrm>
            <a:off x="503932" y="861640"/>
            <a:ext cx="290513" cy="290513"/>
          </a:xfrm>
          <a:prstGeom prst="ellipse">
            <a:avLst/>
          </a:prstGeom>
          <a:solidFill>
            <a:srgbClr val="00C2FF">
              <a:alpha val="15000"/>
            </a:srgbClr>
          </a:solidFill>
          <a:ln w="9525">
            <a:solidFill>
              <a:srgbClr val="00C2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13470" y="927274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40" dirty="0"/>
          </a:p>
        </p:txBody>
      </p:sp>
      <p:sp>
        <p:nvSpPr>
          <p:cNvPr id="8" name="Shape 4"/>
          <p:cNvSpPr/>
          <p:nvPr/>
        </p:nvSpPr>
        <p:spPr>
          <a:xfrm>
            <a:off x="933152" y="737815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74539" y="838646"/>
            <a:ext cx="232295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Choose large primes p and q</a:t>
            </a:r>
            <a:endParaRPr lang="en-US" sz="1010" dirty="0"/>
          </a:p>
        </p:txBody>
      </p:sp>
      <p:sp>
        <p:nvSpPr>
          <p:cNvPr id="10" name="Text 6"/>
          <p:cNvSpPr/>
          <p:nvPr/>
        </p:nvSpPr>
        <p:spPr>
          <a:xfrm>
            <a:off x="1074539" y="1036513"/>
            <a:ext cx="317405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p, q distinct primes, each ≥ 1024 bits</a:t>
            </a:r>
            <a:endParaRPr lang="en-US" sz="830" dirty="0"/>
          </a:p>
        </p:txBody>
      </p:sp>
      <p:sp>
        <p:nvSpPr>
          <p:cNvPr id="11" name="Shape 7"/>
          <p:cNvSpPr/>
          <p:nvPr/>
        </p:nvSpPr>
        <p:spPr>
          <a:xfrm>
            <a:off x="649188" y="1412156"/>
            <a:ext cx="4763" cy="104775"/>
          </a:xfrm>
          <a:prstGeom prst="rect">
            <a:avLst/>
          </a:prstGeom>
          <a:solidFill>
            <a:srgbClr val="00C2FF">
              <a:alpha val="3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03932" y="1776933"/>
            <a:ext cx="290513" cy="290513"/>
          </a:xfrm>
          <a:prstGeom prst="ellipse">
            <a:avLst/>
          </a:prstGeom>
          <a:solidFill>
            <a:srgbClr val="00C2FF">
              <a:alpha val="15000"/>
            </a:srgbClr>
          </a:solidFill>
          <a:ln w="9525">
            <a:solidFill>
              <a:srgbClr val="00C2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3470" y="1842567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933152" y="1653108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74539" y="1753939"/>
            <a:ext cx="245742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Compute modulus and totient</a:t>
            </a:r>
            <a:endParaRPr lang="en-US" sz="1010" dirty="0"/>
          </a:p>
        </p:txBody>
      </p:sp>
      <p:sp>
        <p:nvSpPr>
          <p:cNvPr id="16" name="Text 12"/>
          <p:cNvSpPr/>
          <p:nvPr/>
        </p:nvSpPr>
        <p:spPr>
          <a:xfrm>
            <a:off x="1074539" y="1951806"/>
            <a:ext cx="235362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= pq · φ(N) = (p−1)(q−1)</a:t>
            </a:r>
            <a:endParaRPr lang="en-US" sz="830" dirty="0"/>
          </a:p>
        </p:txBody>
      </p:sp>
      <p:sp>
        <p:nvSpPr>
          <p:cNvPr id="17" name="Shape 13"/>
          <p:cNvSpPr/>
          <p:nvPr/>
        </p:nvSpPr>
        <p:spPr>
          <a:xfrm>
            <a:off x="649188" y="2327449"/>
            <a:ext cx="4763" cy="104775"/>
          </a:xfrm>
          <a:prstGeom prst="rect">
            <a:avLst/>
          </a:prstGeom>
          <a:solidFill>
            <a:srgbClr val="00C2FF">
              <a:alpha val="3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503932" y="2692226"/>
            <a:ext cx="290513" cy="290513"/>
          </a:xfrm>
          <a:prstGeom prst="ellipse">
            <a:avLst/>
          </a:prstGeom>
          <a:solidFill>
            <a:srgbClr val="00C2FF">
              <a:alpha val="15000"/>
            </a:srgbClr>
          </a:solidFill>
          <a:ln w="9525">
            <a:solidFill>
              <a:srgbClr val="00C2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3470" y="2757860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40" dirty="0"/>
          </a:p>
        </p:txBody>
      </p:sp>
      <p:sp>
        <p:nvSpPr>
          <p:cNvPr id="20" name="Shape 16"/>
          <p:cNvSpPr/>
          <p:nvPr/>
        </p:nvSpPr>
        <p:spPr>
          <a:xfrm>
            <a:off x="933152" y="2568401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74539" y="2669232"/>
            <a:ext cx="215453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Choose public exponent e</a:t>
            </a:r>
            <a:endParaRPr lang="en-US" sz="1010" dirty="0"/>
          </a:p>
        </p:txBody>
      </p:sp>
      <p:sp>
        <p:nvSpPr>
          <p:cNvPr id="22" name="Text 18"/>
          <p:cNvSpPr/>
          <p:nvPr/>
        </p:nvSpPr>
        <p:spPr>
          <a:xfrm>
            <a:off x="1074539" y="2867099"/>
            <a:ext cx="325580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gcd(e, φ(N)) = 1 · commonly e = 65537</a:t>
            </a:r>
            <a:endParaRPr lang="en-US" sz="830" dirty="0"/>
          </a:p>
        </p:txBody>
      </p:sp>
      <p:sp>
        <p:nvSpPr>
          <p:cNvPr id="23" name="Shape 19"/>
          <p:cNvSpPr/>
          <p:nvPr/>
        </p:nvSpPr>
        <p:spPr>
          <a:xfrm>
            <a:off x="649188" y="3242742"/>
            <a:ext cx="4763" cy="104775"/>
          </a:xfrm>
          <a:prstGeom prst="rect">
            <a:avLst/>
          </a:prstGeom>
          <a:solidFill>
            <a:srgbClr val="00C2FF">
              <a:alpha val="30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503932" y="3607519"/>
            <a:ext cx="290513" cy="290513"/>
          </a:xfrm>
          <a:prstGeom prst="ellipse">
            <a:avLst/>
          </a:prstGeom>
          <a:solidFill>
            <a:srgbClr val="00C2FF">
              <a:alpha val="15000"/>
            </a:srgbClr>
          </a:solidFill>
          <a:ln w="9525">
            <a:solidFill>
              <a:srgbClr val="00C2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3470" y="3673153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933152" y="3483694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74539" y="3584525"/>
            <a:ext cx="235874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Compute private exponent d</a:t>
            </a:r>
            <a:endParaRPr lang="en-US" sz="1010" dirty="0"/>
          </a:p>
        </p:txBody>
      </p:sp>
      <p:sp>
        <p:nvSpPr>
          <p:cNvPr id="28" name="Text 24"/>
          <p:cNvSpPr/>
          <p:nvPr/>
        </p:nvSpPr>
        <p:spPr>
          <a:xfrm>
            <a:off x="1074539" y="3782392"/>
            <a:ext cx="34203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≡ e⁻¹ (mod φ(N)) via Extended Euclidean</a:t>
            </a:r>
            <a:endParaRPr lang="en-US" sz="830" dirty="0"/>
          </a:p>
        </p:txBody>
      </p:sp>
      <p:sp>
        <p:nvSpPr>
          <p:cNvPr id="29" name="Shape 25"/>
          <p:cNvSpPr/>
          <p:nvPr/>
        </p:nvSpPr>
        <p:spPr>
          <a:xfrm>
            <a:off x="649188" y="4158035"/>
            <a:ext cx="4763" cy="104775"/>
          </a:xfrm>
          <a:prstGeom prst="rect">
            <a:avLst/>
          </a:prstGeom>
          <a:solidFill>
            <a:srgbClr val="00C2FF">
              <a:alpha val="30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503932" y="4522812"/>
            <a:ext cx="290513" cy="290513"/>
          </a:xfrm>
          <a:prstGeom prst="ellipse">
            <a:avLst/>
          </a:prstGeom>
          <a:solidFill>
            <a:srgbClr val="00C2FF">
              <a:alpha val="15000"/>
            </a:srgbClr>
          </a:solidFill>
          <a:ln w="9525">
            <a:solidFill>
              <a:srgbClr val="00C2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13470" y="4588446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40" dirty="0"/>
          </a:p>
        </p:txBody>
      </p:sp>
      <p:sp>
        <p:nvSpPr>
          <p:cNvPr id="32" name="Shape 28"/>
          <p:cNvSpPr/>
          <p:nvPr/>
        </p:nvSpPr>
        <p:spPr>
          <a:xfrm>
            <a:off x="933152" y="4398987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074539" y="4499818"/>
            <a:ext cx="244358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Encrypt with e, decrypt with d</a:t>
            </a:r>
            <a:endParaRPr lang="en-US" sz="1010" dirty="0"/>
          </a:p>
        </p:txBody>
      </p:sp>
      <p:sp>
        <p:nvSpPr>
          <p:cNvPr id="34" name="Text 30"/>
          <p:cNvSpPr/>
          <p:nvPr/>
        </p:nvSpPr>
        <p:spPr>
          <a:xfrm>
            <a:off x="1074539" y="4697685"/>
            <a:ext cx="24361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= Mᵉ mod N · M = Cᵈ mod N</a:t>
            </a:r>
            <a:endParaRPr lang="en-US" sz="830" dirty="0"/>
          </a:p>
        </p:txBody>
      </p:sp>
      <p:sp>
        <p:nvSpPr>
          <p:cNvPr id="35" name="Shape 31"/>
          <p:cNvSpPr/>
          <p:nvPr/>
        </p:nvSpPr>
        <p:spPr>
          <a:xfrm>
            <a:off x="5822268" y="738522"/>
            <a:ext cx="2819400" cy="2990850"/>
          </a:xfrm>
          <a:prstGeom prst="roundRect">
            <a:avLst>
              <a:gd name="adj" fmla="val 2703"/>
            </a:avLst>
          </a:prstGeom>
          <a:solidFill>
            <a:srgbClr val="141938"/>
          </a:solidFill>
          <a:ln w="4763">
            <a:solidFill>
              <a:srgbClr val="7C5CFF">
                <a:alpha val="25000"/>
              </a:srgbClr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030" y="742131"/>
            <a:ext cx="2809875" cy="1428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010424" y="1616348"/>
            <a:ext cx="211893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80" b="1" dirty="0">
                <a:solidFill>
                  <a:srgbClr val="7C5C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Keygen Is Expensive</a:t>
            </a:r>
            <a:endParaRPr lang="en-US" sz="1080" dirty="0"/>
          </a:p>
        </p:txBody>
      </p:sp>
      <p:sp>
        <p:nvSpPr>
          <p:cNvPr id="38" name="Text 33"/>
          <p:cNvSpPr/>
          <p:nvPr/>
        </p:nvSpPr>
        <p:spPr>
          <a:xfrm>
            <a:off x="6010424" y="1913409"/>
            <a:ext cx="3155871" cy="920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RSA is conceptually clear, but prime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generation requires probabilistic primality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testing over very large integers, and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big-integer modular exponentiation adds further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cost.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5822268" y="3833143"/>
            <a:ext cx="2819400" cy="1104900"/>
          </a:xfrm>
          <a:prstGeom prst="roundRect">
            <a:avLst>
              <a:gd name="adj" fmla="val 6897"/>
            </a:avLst>
          </a:prstGeom>
          <a:solidFill>
            <a:srgbClr val="00C2FF">
              <a:alpha val="7000"/>
            </a:srgbClr>
          </a:solidFill>
          <a:ln w="4763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010424" y="3950494"/>
            <a:ext cx="9371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790" b="1" spc="79" kern="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 KEY</a:t>
            </a:r>
            <a:endParaRPr lang="en-US" sz="790" dirty="0"/>
          </a:p>
        </p:txBody>
      </p:sp>
      <p:sp>
        <p:nvSpPr>
          <p:cNvPr id="41" name="Text 36"/>
          <p:cNvSpPr/>
          <p:nvPr/>
        </p:nvSpPr>
        <p:spPr>
          <a:xfrm>
            <a:off x="6010424" y="4152826"/>
            <a:ext cx="61339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(e, N)</a:t>
            </a:r>
            <a:endParaRPr lang="en-US" sz="940" dirty="0"/>
          </a:p>
        </p:txBody>
      </p:sp>
      <p:sp>
        <p:nvSpPr>
          <p:cNvPr id="42" name="Shape 37"/>
          <p:cNvSpPr/>
          <p:nvPr/>
        </p:nvSpPr>
        <p:spPr>
          <a:xfrm>
            <a:off x="6010387" y="4383212"/>
            <a:ext cx="2443163" cy="476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3" name="Text 38"/>
          <p:cNvSpPr/>
          <p:nvPr/>
        </p:nvSpPr>
        <p:spPr>
          <a:xfrm>
            <a:off x="6010424" y="4459188"/>
            <a:ext cx="9948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790" b="1" spc="79" kern="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PRIVATE KEY</a:t>
            </a:r>
            <a:endParaRPr lang="en-US" sz="790" dirty="0"/>
          </a:p>
        </p:txBody>
      </p:sp>
      <p:sp>
        <p:nvSpPr>
          <p:cNvPr id="44" name="Text 39"/>
          <p:cNvSpPr/>
          <p:nvPr/>
        </p:nvSpPr>
        <p:spPr>
          <a:xfrm>
            <a:off x="6010424" y="4661520"/>
            <a:ext cx="61339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(d, N)</a:t>
            </a:r>
            <a:endParaRPr lang="en-US" sz="940" dirty="0"/>
          </a:p>
        </p:txBody>
      </p:sp>
      <p:sp>
        <p:nvSpPr>
          <p:cNvPr id="45" name="Text 40"/>
          <p:cNvSpPr/>
          <p:nvPr/>
        </p:nvSpPr>
        <p:spPr>
          <a:xfrm>
            <a:off x="8261449" y="4895850"/>
            <a:ext cx="55070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 / 20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3820" y="304465"/>
            <a:ext cx="409575" cy="409575"/>
          </a:xfrm>
          <a:prstGeom prst="roundRect">
            <a:avLst>
              <a:gd name="adj" fmla="val 13953"/>
            </a:avLst>
          </a:prstGeom>
          <a:solidFill>
            <a:srgbClr val="00C2FF">
              <a:alpha val="10000"/>
            </a:srgbClr>
          </a:solidFill>
          <a:ln w="9525">
            <a:solidFill>
              <a:srgbClr val="00C2FF">
                <a:alpha val="3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85118" y="415900"/>
            <a:ext cx="37812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RSA</a:t>
            </a:r>
            <a:endParaRPr lang="en-US" sz="1080" dirty="0"/>
          </a:p>
        </p:txBody>
      </p:sp>
      <p:sp>
        <p:nvSpPr>
          <p:cNvPr id="7" name="Text 3"/>
          <p:cNvSpPr/>
          <p:nvPr/>
        </p:nvSpPr>
        <p:spPr>
          <a:xfrm>
            <a:off x="1051471" y="228600"/>
            <a:ext cx="2623326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RSA in Practice</a:t>
            </a:r>
            <a:endParaRPr lang="en-US" sz="2230" dirty="0"/>
          </a:p>
        </p:txBody>
      </p:sp>
      <p:sp>
        <p:nvSpPr>
          <p:cNvPr id="8" name="Text 4"/>
          <p:cNvSpPr/>
          <p:nvPr/>
        </p:nvSpPr>
        <p:spPr>
          <a:xfrm>
            <a:off x="1051471" y="592634"/>
            <a:ext cx="420770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Where integer factorisation underpins real-world security</a:t>
            </a:r>
            <a:endParaRPr lang="en-US" sz="940" dirty="0"/>
          </a:p>
        </p:txBody>
      </p:sp>
      <p:sp>
        <p:nvSpPr>
          <p:cNvPr id="9" name="Shape 5"/>
          <p:cNvSpPr/>
          <p:nvPr/>
        </p:nvSpPr>
        <p:spPr>
          <a:xfrm>
            <a:off x="502890" y="916744"/>
            <a:ext cx="2590800" cy="1957388"/>
          </a:xfrm>
          <a:prstGeom prst="roundRect">
            <a:avLst>
              <a:gd name="adj" fmla="val 3893"/>
            </a:avLst>
          </a:prstGeom>
          <a:solidFill>
            <a:srgbClr val="141938"/>
          </a:solidFill>
          <a:ln w="4763">
            <a:solidFill>
              <a:srgbClr val="00C2FF">
                <a:alpha val="22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53" y="920353"/>
            <a:ext cx="2581275" cy="142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2182" y="1042988"/>
            <a:ext cx="163137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830" b="1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TLS / HTTPS Certificates</a:t>
            </a:r>
            <a:endParaRPr lang="en-US" sz="830" dirty="0"/>
          </a:p>
        </p:txBody>
      </p:sp>
      <p:sp>
        <p:nvSpPr>
          <p:cNvPr id="12" name="Text 7"/>
          <p:cNvSpPr/>
          <p:nvPr/>
        </p:nvSpPr>
        <p:spPr>
          <a:xfrm>
            <a:off x="672182" y="1246510"/>
            <a:ext cx="2910252" cy="637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X.509 server certificates signed with RSA are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backbone of HTTPS. Certificate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authorities issue millions of RSA-2048 and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RSA-4096 certs daily.</a:t>
            </a:r>
            <a:endParaRPr lang="en-US" sz="830" dirty="0"/>
          </a:p>
        </p:txBody>
      </p:sp>
      <p:sp>
        <p:nvSpPr>
          <p:cNvPr id="13" name="Shape 8"/>
          <p:cNvSpPr/>
          <p:nvPr/>
        </p:nvSpPr>
        <p:spPr>
          <a:xfrm>
            <a:off x="671959" y="2548496"/>
            <a:ext cx="2252663" cy="209550"/>
          </a:xfrm>
          <a:prstGeom prst="roundRect">
            <a:avLst>
              <a:gd name="adj" fmla="val 18182"/>
            </a:avLst>
          </a:prstGeom>
          <a:solidFill>
            <a:srgbClr val="00C2FF">
              <a:alpha val="8000"/>
            </a:srgbClr>
          </a:solidFill>
          <a:ln w="4763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68325" y="2589461"/>
            <a:ext cx="148268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X.509 · PKCS #1 v2.2</a:t>
            </a:r>
            <a:endParaRPr lang="en-US" sz="720" dirty="0"/>
          </a:p>
        </p:txBody>
      </p:sp>
      <p:sp>
        <p:nvSpPr>
          <p:cNvPr id="15" name="Shape 10"/>
          <p:cNvSpPr/>
          <p:nvPr/>
        </p:nvSpPr>
        <p:spPr>
          <a:xfrm>
            <a:off x="3276563" y="916744"/>
            <a:ext cx="2590800" cy="1957388"/>
          </a:xfrm>
          <a:prstGeom prst="roundRect">
            <a:avLst>
              <a:gd name="adj" fmla="val 3893"/>
            </a:avLst>
          </a:prstGeom>
          <a:solidFill>
            <a:srgbClr val="141938"/>
          </a:solidFill>
          <a:ln w="4763">
            <a:solidFill>
              <a:srgbClr val="00C2FF">
                <a:alpha val="22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325" y="920353"/>
            <a:ext cx="2581275" cy="142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445818" y="1042988"/>
            <a:ext cx="18039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830" b="1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Email Encryption &amp; Signing</a:t>
            </a:r>
            <a:endParaRPr lang="en-US" sz="830" dirty="0"/>
          </a:p>
        </p:txBody>
      </p:sp>
      <p:sp>
        <p:nvSpPr>
          <p:cNvPr id="18" name="Text 12"/>
          <p:cNvSpPr/>
          <p:nvPr/>
        </p:nvSpPr>
        <p:spPr>
          <a:xfrm>
            <a:off x="3445818" y="1246510"/>
            <a:ext cx="2842245" cy="637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S/MIME and OpenPGP both use RSA for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encrypting session keys and authenticating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message origin. Widely deployed in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corporate and government email.</a:t>
            </a:r>
            <a:endParaRPr lang="en-US" sz="830" dirty="0"/>
          </a:p>
        </p:txBody>
      </p:sp>
      <p:sp>
        <p:nvSpPr>
          <p:cNvPr id="19" name="Shape 13"/>
          <p:cNvSpPr/>
          <p:nvPr/>
        </p:nvSpPr>
        <p:spPr>
          <a:xfrm>
            <a:off x="3445632" y="2548496"/>
            <a:ext cx="2252663" cy="209550"/>
          </a:xfrm>
          <a:prstGeom prst="roundRect">
            <a:avLst>
              <a:gd name="adj" fmla="val 18182"/>
            </a:avLst>
          </a:prstGeom>
          <a:solidFill>
            <a:srgbClr val="00C2FF">
              <a:alpha val="8000"/>
            </a:srgbClr>
          </a:solidFill>
          <a:ln w="4763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541961" y="2589461"/>
            <a:ext cx="183906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S/MIME · OpenPGP RFC 4880</a:t>
            </a:r>
            <a:endParaRPr lang="en-US" sz="720" dirty="0"/>
          </a:p>
        </p:txBody>
      </p:sp>
      <p:sp>
        <p:nvSpPr>
          <p:cNvPr id="21" name="Shape 15"/>
          <p:cNvSpPr/>
          <p:nvPr/>
        </p:nvSpPr>
        <p:spPr>
          <a:xfrm>
            <a:off x="6050273" y="916744"/>
            <a:ext cx="2590800" cy="1957388"/>
          </a:xfrm>
          <a:prstGeom prst="roundRect">
            <a:avLst>
              <a:gd name="adj" fmla="val 3893"/>
            </a:avLst>
          </a:prstGeom>
          <a:solidFill>
            <a:srgbClr val="141938"/>
          </a:solidFill>
          <a:ln w="4763">
            <a:solidFill>
              <a:srgbClr val="00C2FF">
                <a:alpha val="22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035" y="920353"/>
            <a:ext cx="2581275" cy="142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19527" y="1042988"/>
            <a:ext cx="167674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830" b="1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SSH Host Authentication</a:t>
            </a:r>
            <a:endParaRPr lang="en-US" sz="830" dirty="0"/>
          </a:p>
        </p:txBody>
      </p:sp>
      <p:sp>
        <p:nvSpPr>
          <p:cNvPr id="24" name="Text 17"/>
          <p:cNvSpPr/>
          <p:nvPr/>
        </p:nvSpPr>
        <p:spPr>
          <a:xfrm>
            <a:off x="6219527" y="1246510"/>
            <a:ext cx="2936275" cy="637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Legacy SSH deployments use RSA host keys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and user keys for authentication. ssh-keygen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-t rsa still generates RSA-3072 by default in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many distributions.</a:t>
            </a:r>
            <a:endParaRPr lang="en-US" sz="830" dirty="0"/>
          </a:p>
        </p:txBody>
      </p:sp>
      <p:sp>
        <p:nvSpPr>
          <p:cNvPr id="25" name="Shape 18"/>
          <p:cNvSpPr/>
          <p:nvPr/>
        </p:nvSpPr>
        <p:spPr>
          <a:xfrm>
            <a:off x="6219341" y="2548496"/>
            <a:ext cx="2252663" cy="209550"/>
          </a:xfrm>
          <a:prstGeom prst="roundRect">
            <a:avLst>
              <a:gd name="adj" fmla="val 18182"/>
            </a:avLst>
          </a:prstGeom>
          <a:solidFill>
            <a:srgbClr val="00C2FF">
              <a:alpha val="8000"/>
            </a:srgbClr>
          </a:solidFill>
          <a:ln w="4763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315670" y="2589461"/>
            <a:ext cx="134019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4253 · SSH-RSA</a:t>
            </a:r>
            <a:endParaRPr lang="en-US" sz="720" dirty="0"/>
          </a:p>
        </p:txBody>
      </p:sp>
      <p:sp>
        <p:nvSpPr>
          <p:cNvPr id="27" name="Shape 20"/>
          <p:cNvSpPr/>
          <p:nvPr/>
        </p:nvSpPr>
        <p:spPr>
          <a:xfrm>
            <a:off x="502890" y="2979279"/>
            <a:ext cx="2590800" cy="1957388"/>
          </a:xfrm>
          <a:prstGeom prst="roundRect">
            <a:avLst>
              <a:gd name="adj" fmla="val 3893"/>
            </a:avLst>
          </a:prstGeom>
          <a:solidFill>
            <a:srgbClr val="141938"/>
          </a:solidFill>
          <a:ln w="4763">
            <a:solidFill>
              <a:srgbClr val="00C2FF">
                <a:alpha val="22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653" y="2982888"/>
            <a:ext cx="2581275" cy="142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2182" y="3105522"/>
            <a:ext cx="9453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830" b="1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 Signing</a:t>
            </a:r>
            <a:endParaRPr lang="en-US" sz="830" dirty="0"/>
          </a:p>
        </p:txBody>
      </p:sp>
      <p:sp>
        <p:nvSpPr>
          <p:cNvPr id="30" name="Text 22"/>
          <p:cNvSpPr/>
          <p:nvPr/>
        </p:nvSpPr>
        <p:spPr>
          <a:xfrm>
            <a:off x="672182" y="3309045"/>
            <a:ext cx="2959298" cy="637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Windows Authenticode, Java JAR signing, and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RPM/DEB package signatures use RSA to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ensure software authenticity from publisher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 end user.</a:t>
            </a:r>
            <a:endParaRPr lang="en-US" sz="830" dirty="0"/>
          </a:p>
        </p:txBody>
      </p:sp>
      <p:sp>
        <p:nvSpPr>
          <p:cNvPr id="31" name="Shape 23"/>
          <p:cNvSpPr/>
          <p:nvPr/>
        </p:nvSpPr>
        <p:spPr>
          <a:xfrm>
            <a:off x="671959" y="4611030"/>
            <a:ext cx="2252663" cy="209550"/>
          </a:xfrm>
          <a:prstGeom prst="roundRect">
            <a:avLst>
              <a:gd name="adj" fmla="val 18182"/>
            </a:avLst>
          </a:prstGeom>
          <a:solidFill>
            <a:srgbClr val="00C2FF">
              <a:alpha val="8000"/>
            </a:srgbClr>
          </a:solidFill>
          <a:ln w="4763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68325" y="4651995"/>
            <a:ext cx="176787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Authenticode · Jarsigner</a:t>
            </a:r>
            <a:endParaRPr lang="en-US" sz="720" dirty="0"/>
          </a:p>
        </p:txBody>
      </p:sp>
      <p:sp>
        <p:nvSpPr>
          <p:cNvPr id="33" name="Shape 25"/>
          <p:cNvSpPr/>
          <p:nvPr/>
        </p:nvSpPr>
        <p:spPr>
          <a:xfrm>
            <a:off x="3276563" y="2979279"/>
            <a:ext cx="2590800" cy="1957388"/>
          </a:xfrm>
          <a:prstGeom prst="roundRect">
            <a:avLst>
              <a:gd name="adj" fmla="val 3893"/>
            </a:avLst>
          </a:prstGeom>
          <a:solidFill>
            <a:srgbClr val="141938"/>
          </a:solidFill>
          <a:ln w="4763">
            <a:solidFill>
              <a:srgbClr val="00C2FF">
                <a:alpha val="2200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1325" y="2982888"/>
            <a:ext cx="2581275" cy="142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445818" y="3105522"/>
            <a:ext cx="2045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830" b="1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API Token Signing (JWT RS256)</a:t>
            </a:r>
            <a:endParaRPr lang="en-US" sz="830" dirty="0"/>
          </a:p>
        </p:txBody>
      </p:sp>
      <p:sp>
        <p:nvSpPr>
          <p:cNvPr id="36" name="Text 27"/>
          <p:cNvSpPr/>
          <p:nvPr/>
        </p:nvSpPr>
        <p:spPr>
          <a:xfrm>
            <a:off x="3445818" y="3309045"/>
            <a:ext cx="2813030" cy="637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RSA is used in the RS256 and RS512 JWT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signing algorithms — common in OAuth 2.0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and OpenID Connect identity providers for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stateless API auth.</a:t>
            </a:r>
            <a:endParaRPr lang="en-US" sz="830" dirty="0"/>
          </a:p>
        </p:txBody>
      </p:sp>
      <p:sp>
        <p:nvSpPr>
          <p:cNvPr id="37" name="Shape 28"/>
          <p:cNvSpPr/>
          <p:nvPr/>
        </p:nvSpPr>
        <p:spPr>
          <a:xfrm>
            <a:off x="3445632" y="4611030"/>
            <a:ext cx="2252663" cy="209550"/>
          </a:xfrm>
          <a:prstGeom prst="roundRect">
            <a:avLst>
              <a:gd name="adj" fmla="val 18182"/>
            </a:avLst>
          </a:prstGeom>
          <a:solidFill>
            <a:srgbClr val="00C2FF">
              <a:alpha val="8000"/>
            </a:srgbClr>
          </a:solidFill>
          <a:ln w="4763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3541961" y="4651995"/>
            <a:ext cx="176787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7518 · RS256 / PS256</a:t>
            </a:r>
            <a:endParaRPr lang="en-US" sz="720" dirty="0"/>
          </a:p>
        </p:txBody>
      </p:sp>
      <p:sp>
        <p:nvSpPr>
          <p:cNvPr id="39" name="Shape 30"/>
          <p:cNvSpPr/>
          <p:nvPr/>
        </p:nvSpPr>
        <p:spPr>
          <a:xfrm>
            <a:off x="6050273" y="2979279"/>
            <a:ext cx="2590800" cy="1957388"/>
          </a:xfrm>
          <a:prstGeom prst="roundRect">
            <a:avLst>
              <a:gd name="adj" fmla="val 3893"/>
            </a:avLst>
          </a:prstGeom>
          <a:solidFill>
            <a:srgbClr val="FF5C5C">
              <a:alpha val="6000"/>
            </a:srgbClr>
          </a:solidFill>
          <a:ln w="4763">
            <a:solidFill>
              <a:srgbClr val="FF5C5C">
                <a:alpha val="25000"/>
              </a:srgbClr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055035" y="2982888"/>
            <a:ext cx="2581275" cy="14288"/>
          </a:xfrm>
          <a:prstGeom prst="rect">
            <a:avLst/>
          </a:prstGeom>
          <a:solidFill>
            <a:srgbClr val="FF5C5C">
              <a:alpha val="80000"/>
            </a:srgbClr>
          </a:solidFill>
          <a:ln/>
        </p:spPr>
      </p:sp>
      <p:sp>
        <p:nvSpPr>
          <p:cNvPr id="41" name="Text 32"/>
          <p:cNvSpPr/>
          <p:nvPr/>
        </p:nvSpPr>
        <p:spPr>
          <a:xfrm>
            <a:off x="6219527" y="3105522"/>
            <a:ext cx="132093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830" b="1" dirty="0">
                <a:solidFill>
                  <a:srgbClr val="FF5C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Quantum Exposure</a:t>
            </a:r>
            <a:endParaRPr lang="en-US" sz="830" dirty="0"/>
          </a:p>
        </p:txBody>
      </p:sp>
      <p:sp>
        <p:nvSpPr>
          <p:cNvPr id="42" name="Text 33"/>
          <p:cNvSpPr/>
          <p:nvPr/>
        </p:nvSpPr>
        <p:spPr>
          <a:xfrm>
            <a:off x="6219527" y="3309045"/>
            <a:ext cx="2837989" cy="637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RSA application above is broken by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Shor's algorithm. The security margin of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RSA-2048 drops to zero once a sufficiently large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fault-tolerant quantum computer exists.</a:t>
            </a:r>
            <a:endParaRPr lang="en-US" sz="830" dirty="0"/>
          </a:p>
        </p:txBody>
      </p:sp>
      <p:sp>
        <p:nvSpPr>
          <p:cNvPr id="43" name="Shape 34"/>
          <p:cNvSpPr/>
          <p:nvPr/>
        </p:nvSpPr>
        <p:spPr>
          <a:xfrm>
            <a:off x="6219341" y="4611030"/>
            <a:ext cx="2252663" cy="209550"/>
          </a:xfrm>
          <a:prstGeom prst="roundRect">
            <a:avLst>
              <a:gd name="adj" fmla="val 18182"/>
            </a:avLst>
          </a:prstGeom>
          <a:solidFill>
            <a:srgbClr val="FF5C5C">
              <a:alpha val="10000"/>
            </a:srgbClr>
          </a:solidFill>
          <a:ln w="4763">
            <a:solidFill>
              <a:srgbClr val="FF5C5C">
                <a:alpha val="25000"/>
              </a:srgbClr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6315670" y="4651995"/>
            <a:ext cx="205315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FF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Shor's → O(log³ N) factoring</a:t>
            </a:r>
            <a:endParaRPr lang="en-US" sz="720" dirty="0"/>
          </a:p>
        </p:txBody>
      </p:sp>
      <p:sp>
        <p:nvSpPr>
          <p:cNvPr id="45" name="Text 36"/>
          <p:cNvSpPr/>
          <p:nvPr/>
        </p:nvSpPr>
        <p:spPr>
          <a:xfrm>
            <a:off x="8264872" y="4895850"/>
            <a:ext cx="54625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 / 20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890" y="228600"/>
            <a:ext cx="8374998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ECDSA: Geometry, Hashing, and Nonce Discipline</a:t>
            </a:r>
            <a:endParaRPr lang="en-US" sz="2230" dirty="0"/>
          </a:p>
        </p:txBody>
      </p:sp>
      <p:sp>
        <p:nvSpPr>
          <p:cNvPr id="6" name="Shape 2"/>
          <p:cNvSpPr/>
          <p:nvPr/>
        </p:nvSpPr>
        <p:spPr>
          <a:xfrm>
            <a:off x="503932" y="861640"/>
            <a:ext cx="290513" cy="290513"/>
          </a:xfrm>
          <a:prstGeom prst="ellipse">
            <a:avLst/>
          </a:prstGeom>
          <a:solidFill>
            <a:srgbClr val="7C5CFF">
              <a:alpha val="15000"/>
            </a:srgbClr>
          </a:solidFill>
          <a:ln w="9525">
            <a:solidFill>
              <a:srgbClr val="7C5C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13470" y="927274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40" dirty="0"/>
          </a:p>
        </p:txBody>
      </p:sp>
      <p:sp>
        <p:nvSpPr>
          <p:cNvPr id="8" name="Shape 4"/>
          <p:cNvSpPr/>
          <p:nvPr/>
        </p:nvSpPr>
        <p:spPr>
          <a:xfrm>
            <a:off x="933152" y="737815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74539" y="838646"/>
            <a:ext cx="147272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Generate key pair</a:t>
            </a:r>
            <a:endParaRPr lang="en-US" sz="1010" dirty="0"/>
          </a:p>
        </p:txBody>
      </p:sp>
      <p:sp>
        <p:nvSpPr>
          <p:cNvPr id="10" name="Text 6"/>
          <p:cNvSpPr/>
          <p:nvPr/>
        </p:nvSpPr>
        <p:spPr>
          <a:xfrm>
            <a:off x="1074539" y="1036513"/>
            <a:ext cx="309202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← random scalar · Q = dG on curve</a:t>
            </a:r>
            <a:endParaRPr lang="en-US" sz="830" dirty="0"/>
          </a:p>
        </p:txBody>
      </p:sp>
      <p:sp>
        <p:nvSpPr>
          <p:cNvPr id="11" name="Shape 7"/>
          <p:cNvSpPr/>
          <p:nvPr/>
        </p:nvSpPr>
        <p:spPr>
          <a:xfrm>
            <a:off x="649188" y="1412156"/>
            <a:ext cx="4763" cy="104775"/>
          </a:xfrm>
          <a:prstGeom prst="rect">
            <a:avLst/>
          </a:prstGeom>
          <a:solidFill>
            <a:srgbClr val="7C5CFF">
              <a:alpha val="3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03932" y="1776933"/>
            <a:ext cx="290513" cy="290513"/>
          </a:xfrm>
          <a:prstGeom prst="ellipse">
            <a:avLst/>
          </a:prstGeom>
          <a:solidFill>
            <a:srgbClr val="7C5CFF">
              <a:alpha val="15000"/>
            </a:srgbClr>
          </a:solidFill>
          <a:ln w="9525">
            <a:solidFill>
              <a:srgbClr val="7C5C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3470" y="1842567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933152" y="1653108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74539" y="1753939"/>
            <a:ext cx="195389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Pick ephemeral nonce k</a:t>
            </a:r>
            <a:endParaRPr lang="en-US" sz="1010" dirty="0"/>
          </a:p>
        </p:txBody>
      </p:sp>
      <p:sp>
        <p:nvSpPr>
          <p:cNvPr id="16" name="Text 12"/>
          <p:cNvSpPr/>
          <p:nvPr/>
        </p:nvSpPr>
        <p:spPr>
          <a:xfrm>
            <a:off x="1074539" y="1951806"/>
            <a:ext cx="45682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 ← random in [1, n−1] · must be unique per signature</a:t>
            </a:r>
            <a:endParaRPr lang="en-US" sz="830" dirty="0"/>
          </a:p>
        </p:txBody>
      </p:sp>
      <p:sp>
        <p:nvSpPr>
          <p:cNvPr id="17" name="Shape 13"/>
          <p:cNvSpPr/>
          <p:nvPr/>
        </p:nvSpPr>
        <p:spPr>
          <a:xfrm>
            <a:off x="649188" y="2327449"/>
            <a:ext cx="4763" cy="104775"/>
          </a:xfrm>
          <a:prstGeom prst="rect">
            <a:avLst/>
          </a:prstGeom>
          <a:solidFill>
            <a:srgbClr val="7C5CFF">
              <a:alpha val="3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503932" y="2692226"/>
            <a:ext cx="290513" cy="290513"/>
          </a:xfrm>
          <a:prstGeom prst="ellipse">
            <a:avLst/>
          </a:prstGeom>
          <a:solidFill>
            <a:srgbClr val="7C5CFF">
              <a:alpha val="15000"/>
            </a:srgbClr>
          </a:solidFill>
          <a:ln w="9525">
            <a:solidFill>
              <a:srgbClr val="7C5C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3470" y="2757860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40" dirty="0"/>
          </a:p>
        </p:txBody>
      </p:sp>
      <p:sp>
        <p:nvSpPr>
          <p:cNvPr id="20" name="Shape 16"/>
          <p:cNvSpPr/>
          <p:nvPr/>
        </p:nvSpPr>
        <p:spPr>
          <a:xfrm>
            <a:off x="933152" y="2568401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74539" y="2669232"/>
            <a:ext cx="248828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Compute commitment point R</a:t>
            </a:r>
            <a:endParaRPr lang="en-US" sz="1010" dirty="0"/>
          </a:p>
        </p:txBody>
      </p:sp>
      <p:sp>
        <p:nvSpPr>
          <p:cNvPr id="22" name="Text 18"/>
          <p:cNvSpPr/>
          <p:nvPr/>
        </p:nvSpPr>
        <p:spPr>
          <a:xfrm>
            <a:off x="1074539" y="2867099"/>
            <a:ext cx="20255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 = kG · r = R.x mod n</a:t>
            </a:r>
            <a:endParaRPr lang="en-US" sz="830" dirty="0"/>
          </a:p>
        </p:txBody>
      </p:sp>
      <p:sp>
        <p:nvSpPr>
          <p:cNvPr id="23" name="Shape 19"/>
          <p:cNvSpPr/>
          <p:nvPr/>
        </p:nvSpPr>
        <p:spPr>
          <a:xfrm>
            <a:off x="649188" y="3242742"/>
            <a:ext cx="4763" cy="104775"/>
          </a:xfrm>
          <a:prstGeom prst="rect">
            <a:avLst/>
          </a:prstGeom>
          <a:solidFill>
            <a:srgbClr val="7C5CFF">
              <a:alpha val="30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503932" y="3607519"/>
            <a:ext cx="290513" cy="290513"/>
          </a:xfrm>
          <a:prstGeom prst="ellipse">
            <a:avLst/>
          </a:prstGeom>
          <a:solidFill>
            <a:srgbClr val="7C5CFF">
              <a:alpha val="15000"/>
            </a:srgbClr>
          </a:solidFill>
          <a:ln w="9525">
            <a:solidFill>
              <a:srgbClr val="7C5C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3470" y="3673153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933152" y="3483694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74539" y="3584525"/>
            <a:ext cx="222824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Compute signature scalar s</a:t>
            </a:r>
            <a:endParaRPr lang="en-US" sz="1010" dirty="0"/>
          </a:p>
        </p:txBody>
      </p:sp>
      <p:sp>
        <p:nvSpPr>
          <p:cNvPr id="28" name="Text 24"/>
          <p:cNvSpPr/>
          <p:nvPr/>
        </p:nvSpPr>
        <p:spPr>
          <a:xfrm>
            <a:off x="1074539" y="3782392"/>
            <a:ext cx="20258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 = k⁻¹(H(m) + rd) mod n</a:t>
            </a:r>
            <a:endParaRPr lang="en-US" sz="830" dirty="0"/>
          </a:p>
        </p:txBody>
      </p:sp>
      <p:sp>
        <p:nvSpPr>
          <p:cNvPr id="29" name="Shape 25"/>
          <p:cNvSpPr/>
          <p:nvPr/>
        </p:nvSpPr>
        <p:spPr>
          <a:xfrm>
            <a:off x="649188" y="4158035"/>
            <a:ext cx="4763" cy="104775"/>
          </a:xfrm>
          <a:prstGeom prst="rect">
            <a:avLst/>
          </a:prstGeom>
          <a:solidFill>
            <a:srgbClr val="7C5CFF">
              <a:alpha val="30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503932" y="4522812"/>
            <a:ext cx="290513" cy="290513"/>
          </a:xfrm>
          <a:prstGeom prst="ellipse">
            <a:avLst/>
          </a:prstGeom>
          <a:solidFill>
            <a:srgbClr val="7C5CFF">
              <a:alpha val="15000"/>
            </a:srgbClr>
          </a:solidFill>
          <a:ln w="9525">
            <a:solidFill>
              <a:srgbClr val="7C5C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13470" y="4588446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40" dirty="0"/>
          </a:p>
        </p:txBody>
      </p:sp>
      <p:sp>
        <p:nvSpPr>
          <p:cNvPr id="32" name="Shape 28"/>
          <p:cNvSpPr/>
          <p:nvPr/>
        </p:nvSpPr>
        <p:spPr>
          <a:xfrm>
            <a:off x="933152" y="4398987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074539" y="4499818"/>
            <a:ext cx="248779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Verify via curve reconstruction</a:t>
            </a:r>
            <a:endParaRPr lang="en-US" sz="1010" dirty="0"/>
          </a:p>
        </p:txBody>
      </p:sp>
      <p:sp>
        <p:nvSpPr>
          <p:cNvPr id="34" name="Text 30"/>
          <p:cNvSpPr/>
          <p:nvPr/>
        </p:nvSpPr>
        <p:spPr>
          <a:xfrm>
            <a:off x="1074539" y="4697685"/>
            <a:ext cx="32565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u₁G + u₂Q → compare x-coordinate with r</a:t>
            </a:r>
            <a:endParaRPr lang="en-US" sz="830" dirty="0"/>
          </a:p>
        </p:txBody>
      </p:sp>
      <p:sp>
        <p:nvSpPr>
          <p:cNvPr id="35" name="Shape 31"/>
          <p:cNvSpPr/>
          <p:nvPr/>
        </p:nvSpPr>
        <p:spPr>
          <a:xfrm>
            <a:off x="5822268" y="738001"/>
            <a:ext cx="2819400" cy="3048000"/>
          </a:xfrm>
          <a:prstGeom prst="roundRect">
            <a:avLst>
              <a:gd name="adj" fmla="val 2703"/>
            </a:avLst>
          </a:prstGeom>
          <a:solidFill>
            <a:srgbClr val="FF5C5C">
              <a:alpha val="7000"/>
            </a:srgbClr>
          </a:solidFill>
          <a:ln w="4763">
            <a:solidFill>
              <a:srgbClr val="FF5C5C">
                <a:alpha val="3500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827030" y="742131"/>
            <a:ext cx="2809875" cy="14288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37" name="Text 33"/>
          <p:cNvSpPr/>
          <p:nvPr/>
        </p:nvSpPr>
        <p:spPr>
          <a:xfrm>
            <a:off x="6010424" y="1658243"/>
            <a:ext cx="173120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40" b="1" dirty="0">
                <a:solidFill>
                  <a:srgbClr val="FF5C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Critical Vulnerability</a:t>
            </a:r>
            <a:endParaRPr lang="en-US" sz="1040" dirty="0"/>
          </a:p>
        </p:txBody>
      </p:sp>
      <p:sp>
        <p:nvSpPr>
          <p:cNvPr id="38" name="Text 34"/>
          <p:cNvSpPr/>
          <p:nvPr/>
        </p:nvSpPr>
        <p:spPr>
          <a:xfrm>
            <a:off x="6010424" y="1948532"/>
            <a:ext cx="3164674" cy="53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Nonce reuse leaks the private key d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algebraically — two signatures with the same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 reveal d in closed form.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010387" y="2584735"/>
            <a:ext cx="2443163" cy="290513"/>
          </a:xfrm>
          <a:prstGeom prst="roundRect">
            <a:avLst>
              <a:gd name="adj" fmla="val 13115"/>
            </a:avLst>
          </a:prstGeom>
          <a:solidFill>
            <a:srgbClr val="FF5C5C">
              <a:alpha val="12000"/>
            </a:srgbClr>
          </a:solidFill>
          <a:ln w="4763">
            <a:solidFill>
              <a:srgbClr val="FF5C5C">
                <a:alpha val="2500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124873" y="2655912"/>
            <a:ext cx="284621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FF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Same k → same r → d is recoverable</a:t>
            </a:r>
            <a:endParaRPr lang="en-US" sz="830" dirty="0"/>
          </a:p>
        </p:txBody>
      </p:sp>
      <p:sp>
        <p:nvSpPr>
          <p:cNvPr id="41" name="Shape 37"/>
          <p:cNvSpPr/>
          <p:nvPr/>
        </p:nvSpPr>
        <p:spPr>
          <a:xfrm>
            <a:off x="5822268" y="3889772"/>
            <a:ext cx="2819400" cy="1047750"/>
          </a:xfrm>
          <a:prstGeom prst="roundRect">
            <a:avLst>
              <a:gd name="adj" fmla="val 7273"/>
            </a:avLst>
          </a:prstGeom>
          <a:solidFill>
            <a:srgbClr val="141938"/>
          </a:solidFill>
          <a:ln w="4763">
            <a:solidFill>
              <a:srgbClr val="7C5CFF">
                <a:alpha val="2200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010424" y="4032349"/>
            <a:ext cx="161531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830" b="1" spc="83" kern="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SIGNATURE OUTPUT</a:t>
            </a:r>
            <a:endParaRPr lang="en-US" sz="830" dirty="0"/>
          </a:p>
        </p:txBody>
      </p:sp>
      <p:sp>
        <p:nvSpPr>
          <p:cNvPr id="43" name="Text 39"/>
          <p:cNvSpPr/>
          <p:nvPr/>
        </p:nvSpPr>
        <p:spPr>
          <a:xfrm>
            <a:off x="6010424" y="4251722"/>
            <a:ext cx="105558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010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σ = (r, s)</a:t>
            </a:r>
            <a:endParaRPr lang="en-US" sz="1010" dirty="0"/>
          </a:p>
        </p:txBody>
      </p:sp>
      <p:sp>
        <p:nvSpPr>
          <p:cNvPr id="44" name="Text 40"/>
          <p:cNvSpPr/>
          <p:nvPr/>
        </p:nvSpPr>
        <p:spPr>
          <a:xfrm>
            <a:off x="6010424" y="4484787"/>
            <a:ext cx="3139909" cy="302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P-256: 64 bytes total — efficient and compact</a:t>
            </a:r>
            <a:endParaRPr lang="en-US" sz="860" dirty="0"/>
          </a:p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compared to RSA-2048's 256 bytes</a:t>
            </a:r>
            <a:endParaRPr lang="en-US" sz="860" dirty="0"/>
          </a:p>
        </p:txBody>
      </p:sp>
      <p:sp>
        <p:nvSpPr>
          <p:cNvPr id="45" name="Text 41"/>
          <p:cNvSpPr/>
          <p:nvPr/>
        </p:nvSpPr>
        <p:spPr>
          <a:xfrm>
            <a:off x="8289652" y="4895850"/>
            <a:ext cx="51404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 / 20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3820" y="304465"/>
            <a:ext cx="409575" cy="409575"/>
          </a:xfrm>
          <a:prstGeom prst="roundRect">
            <a:avLst>
              <a:gd name="adj" fmla="val 13953"/>
            </a:avLst>
          </a:prstGeom>
          <a:solidFill>
            <a:srgbClr val="7C5CFF">
              <a:alpha val="10000"/>
            </a:srgbClr>
          </a:solidFill>
          <a:ln w="9525">
            <a:solidFill>
              <a:srgbClr val="7C5CFF">
                <a:alpha val="3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01638" y="429667"/>
            <a:ext cx="3352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ECC</a:t>
            </a:r>
            <a:endParaRPr lang="en-US" sz="940" dirty="0"/>
          </a:p>
        </p:txBody>
      </p:sp>
      <p:sp>
        <p:nvSpPr>
          <p:cNvPr id="7" name="Text 3"/>
          <p:cNvSpPr/>
          <p:nvPr/>
        </p:nvSpPr>
        <p:spPr>
          <a:xfrm>
            <a:off x="1051471" y="228600"/>
            <a:ext cx="4373999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ECC &amp; ECDSA in Practice</a:t>
            </a:r>
            <a:endParaRPr lang="en-US" sz="2230" dirty="0"/>
          </a:p>
        </p:txBody>
      </p:sp>
      <p:sp>
        <p:nvSpPr>
          <p:cNvPr id="8" name="Text 4"/>
          <p:cNvSpPr/>
          <p:nvPr/>
        </p:nvSpPr>
        <p:spPr>
          <a:xfrm>
            <a:off x="1051471" y="592634"/>
            <a:ext cx="539236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Compact keys, high throughput — today's dominant asymmetric primitive</a:t>
            </a:r>
            <a:endParaRPr lang="en-US" sz="940" dirty="0"/>
          </a:p>
        </p:txBody>
      </p:sp>
      <p:sp>
        <p:nvSpPr>
          <p:cNvPr id="9" name="Shape 5"/>
          <p:cNvSpPr/>
          <p:nvPr/>
        </p:nvSpPr>
        <p:spPr>
          <a:xfrm>
            <a:off x="502890" y="916744"/>
            <a:ext cx="2590800" cy="1957388"/>
          </a:xfrm>
          <a:prstGeom prst="roundRect">
            <a:avLst>
              <a:gd name="adj" fmla="val 3893"/>
            </a:avLst>
          </a:prstGeom>
          <a:solidFill>
            <a:srgbClr val="141938"/>
          </a:solidFill>
          <a:ln w="4763">
            <a:solidFill>
              <a:srgbClr val="7C5CFF">
                <a:alpha val="22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53" y="920353"/>
            <a:ext cx="2581275" cy="142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2182" y="1042988"/>
            <a:ext cx="14467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830" b="1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TLS 1.3 Key Exchange</a:t>
            </a:r>
            <a:endParaRPr lang="en-US" sz="830" dirty="0"/>
          </a:p>
        </p:txBody>
      </p:sp>
      <p:sp>
        <p:nvSpPr>
          <p:cNvPr id="12" name="Text 7"/>
          <p:cNvSpPr/>
          <p:nvPr/>
        </p:nvSpPr>
        <p:spPr>
          <a:xfrm>
            <a:off x="672182" y="1246510"/>
            <a:ext cx="2904061" cy="637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ECDH on P-256 and X25519 is the dominant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agreement in TLS 1.3. Every HTTPS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connection you make today almost certainly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uses ECDH.</a:t>
            </a:r>
            <a:endParaRPr lang="en-US" sz="830" dirty="0"/>
          </a:p>
        </p:txBody>
      </p:sp>
      <p:sp>
        <p:nvSpPr>
          <p:cNvPr id="13" name="Shape 8"/>
          <p:cNvSpPr/>
          <p:nvPr/>
        </p:nvSpPr>
        <p:spPr>
          <a:xfrm>
            <a:off x="671959" y="2548496"/>
            <a:ext cx="2252663" cy="209550"/>
          </a:xfrm>
          <a:prstGeom prst="roundRect">
            <a:avLst>
              <a:gd name="adj" fmla="val 18182"/>
            </a:avLst>
          </a:prstGeom>
          <a:solidFill>
            <a:srgbClr val="7C5CFF">
              <a:alpha val="8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68325" y="2589461"/>
            <a:ext cx="183906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8446 · X25519 / P-256</a:t>
            </a:r>
            <a:endParaRPr lang="en-US" sz="720" dirty="0"/>
          </a:p>
        </p:txBody>
      </p:sp>
      <p:sp>
        <p:nvSpPr>
          <p:cNvPr id="15" name="Shape 10"/>
          <p:cNvSpPr/>
          <p:nvPr/>
        </p:nvSpPr>
        <p:spPr>
          <a:xfrm>
            <a:off x="3276563" y="916744"/>
            <a:ext cx="2590800" cy="1957388"/>
          </a:xfrm>
          <a:prstGeom prst="roundRect">
            <a:avLst>
              <a:gd name="adj" fmla="val 3893"/>
            </a:avLst>
          </a:prstGeom>
          <a:solidFill>
            <a:srgbClr val="141938"/>
          </a:solidFill>
          <a:ln w="4763">
            <a:solidFill>
              <a:srgbClr val="7C5CFF">
                <a:alpha val="22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325" y="920353"/>
            <a:ext cx="2581275" cy="142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445818" y="1042988"/>
            <a:ext cx="20947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830" b="1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Blockchain Transaction Signing</a:t>
            </a:r>
            <a:endParaRPr lang="en-US" sz="830" dirty="0"/>
          </a:p>
        </p:txBody>
      </p:sp>
      <p:sp>
        <p:nvSpPr>
          <p:cNvPr id="18" name="Text 12"/>
          <p:cNvSpPr/>
          <p:nvPr/>
        </p:nvSpPr>
        <p:spPr>
          <a:xfrm>
            <a:off x="3445818" y="1246510"/>
            <a:ext cx="2764758" cy="806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Bitcoin uses ECDSA on secp256k1 for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transaction signatures. Ethereum uses the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same for account ownership proofs. Every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on-chain action requires a valid ECDSA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signature.</a:t>
            </a:r>
            <a:endParaRPr lang="en-US" sz="830" dirty="0"/>
          </a:p>
        </p:txBody>
      </p:sp>
      <p:sp>
        <p:nvSpPr>
          <p:cNvPr id="19" name="Shape 13"/>
          <p:cNvSpPr/>
          <p:nvPr/>
        </p:nvSpPr>
        <p:spPr>
          <a:xfrm>
            <a:off x="3445632" y="2548496"/>
            <a:ext cx="2252663" cy="209550"/>
          </a:xfrm>
          <a:prstGeom prst="roundRect">
            <a:avLst>
              <a:gd name="adj" fmla="val 18182"/>
            </a:avLst>
          </a:prstGeom>
          <a:solidFill>
            <a:srgbClr val="7C5CFF">
              <a:alpha val="8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541961" y="2589461"/>
            <a:ext cx="198166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secp256k1 · BIP-340 Schnorr</a:t>
            </a:r>
            <a:endParaRPr lang="en-US" sz="720" dirty="0"/>
          </a:p>
        </p:txBody>
      </p:sp>
      <p:sp>
        <p:nvSpPr>
          <p:cNvPr id="21" name="Shape 15"/>
          <p:cNvSpPr/>
          <p:nvPr/>
        </p:nvSpPr>
        <p:spPr>
          <a:xfrm>
            <a:off x="6050273" y="916744"/>
            <a:ext cx="2590800" cy="1957388"/>
          </a:xfrm>
          <a:prstGeom prst="roundRect">
            <a:avLst>
              <a:gd name="adj" fmla="val 3893"/>
            </a:avLst>
          </a:prstGeom>
          <a:solidFill>
            <a:srgbClr val="141938"/>
          </a:solidFill>
          <a:ln w="4763">
            <a:solidFill>
              <a:srgbClr val="7C5CFF">
                <a:alpha val="22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035" y="920353"/>
            <a:ext cx="2581275" cy="142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19527" y="1042988"/>
            <a:ext cx="201184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830" b="1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FIDO2 / Passkeys / WebAuthn</a:t>
            </a:r>
            <a:endParaRPr lang="en-US" sz="830" dirty="0"/>
          </a:p>
        </p:txBody>
      </p:sp>
      <p:sp>
        <p:nvSpPr>
          <p:cNvPr id="24" name="Text 17"/>
          <p:cNvSpPr/>
          <p:nvPr/>
        </p:nvSpPr>
        <p:spPr>
          <a:xfrm>
            <a:off x="6219527" y="1246510"/>
            <a:ext cx="2814771" cy="637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Hardware security keys (YubiKey, Titan) and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platform authenticators (Face ID, Windows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Hello) use ECDSA P-256 to sign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authentication challenges.</a:t>
            </a:r>
            <a:endParaRPr lang="en-US" sz="830" dirty="0"/>
          </a:p>
        </p:txBody>
      </p:sp>
      <p:sp>
        <p:nvSpPr>
          <p:cNvPr id="25" name="Shape 18"/>
          <p:cNvSpPr/>
          <p:nvPr/>
        </p:nvSpPr>
        <p:spPr>
          <a:xfrm>
            <a:off x="6219341" y="2548496"/>
            <a:ext cx="2252663" cy="209550"/>
          </a:xfrm>
          <a:prstGeom prst="roundRect">
            <a:avLst>
              <a:gd name="adj" fmla="val 18182"/>
            </a:avLst>
          </a:prstGeom>
          <a:solidFill>
            <a:srgbClr val="7C5CFF">
              <a:alpha val="8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315670" y="2589461"/>
            <a:ext cx="169657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FIDO2 · W3C WebAuthn L2</a:t>
            </a:r>
            <a:endParaRPr lang="en-US" sz="720" dirty="0"/>
          </a:p>
        </p:txBody>
      </p:sp>
      <p:sp>
        <p:nvSpPr>
          <p:cNvPr id="27" name="Shape 20"/>
          <p:cNvSpPr/>
          <p:nvPr/>
        </p:nvSpPr>
        <p:spPr>
          <a:xfrm>
            <a:off x="502890" y="2979279"/>
            <a:ext cx="2590800" cy="1957388"/>
          </a:xfrm>
          <a:prstGeom prst="roundRect">
            <a:avLst>
              <a:gd name="adj" fmla="val 3893"/>
            </a:avLst>
          </a:prstGeom>
          <a:solidFill>
            <a:srgbClr val="141938"/>
          </a:solidFill>
          <a:ln w="4763">
            <a:solidFill>
              <a:srgbClr val="7C5CFF">
                <a:alpha val="22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653" y="2982888"/>
            <a:ext cx="2581275" cy="142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2182" y="3105522"/>
            <a:ext cx="17592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830" b="1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Mobile Device Attestation</a:t>
            </a:r>
            <a:endParaRPr lang="en-US" sz="830" dirty="0"/>
          </a:p>
        </p:txBody>
      </p:sp>
      <p:sp>
        <p:nvSpPr>
          <p:cNvPr id="30" name="Text 22"/>
          <p:cNvSpPr/>
          <p:nvPr/>
        </p:nvSpPr>
        <p:spPr>
          <a:xfrm>
            <a:off x="672182" y="3309045"/>
            <a:ext cx="2876877" cy="637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Apple Secure Enclave and Android Keystore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generate ECDSA P-256/P-384 keys in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hardware. Used for app attestation,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payments (Apple Pay), and device identity.</a:t>
            </a:r>
            <a:endParaRPr lang="en-US" sz="830" dirty="0"/>
          </a:p>
        </p:txBody>
      </p:sp>
      <p:sp>
        <p:nvSpPr>
          <p:cNvPr id="31" name="Shape 23"/>
          <p:cNvSpPr/>
          <p:nvPr/>
        </p:nvSpPr>
        <p:spPr>
          <a:xfrm>
            <a:off x="671959" y="4611030"/>
            <a:ext cx="2252663" cy="209550"/>
          </a:xfrm>
          <a:prstGeom prst="roundRect">
            <a:avLst>
              <a:gd name="adj" fmla="val 18182"/>
            </a:avLst>
          </a:prstGeom>
          <a:solidFill>
            <a:srgbClr val="7C5CFF">
              <a:alpha val="8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68325" y="4651995"/>
            <a:ext cx="162527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Android Keystore · SEP</a:t>
            </a:r>
            <a:endParaRPr lang="en-US" sz="720" dirty="0"/>
          </a:p>
        </p:txBody>
      </p:sp>
      <p:sp>
        <p:nvSpPr>
          <p:cNvPr id="33" name="Shape 25"/>
          <p:cNvSpPr/>
          <p:nvPr/>
        </p:nvSpPr>
        <p:spPr>
          <a:xfrm>
            <a:off x="3276563" y="2979279"/>
            <a:ext cx="2590800" cy="1957388"/>
          </a:xfrm>
          <a:prstGeom prst="roundRect">
            <a:avLst>
              <a:gd name="adj" fmla="val 3893"/>
            </a:avLst>
          </a:prstGeom>
          <a:solidFill>
            <a:srgbClr val="141938"/>
          </a:solidFill>
          <a:ln w="4763">
            <a:solidFill>
              <a:srgbClr val="7C5CFF">
                <a:alpha val="2200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1325" y="2982888"/>
            <a:ext cx="2581275" cy="142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445818" y="3105522"/>
            <a:ext cx="142986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830" b="1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JWT ES256 / API Auth</a:t>
            </a:r>
            <a:endParaRPr lang="en-US" sz="830" dirty="0"/>
          </a:p>
        </p:txBody>
      </p:sp>
      <p:sp>
        <p:nvSpPr>
          <p:cNvPr id="36" name="Text 27"/>
          <p:cNvSpPr/>
          <p:nvPr/>
        </p:nvSpPr>
        <p:spPr>
          <a:xfrm>
            <a:off x="3445818" y="3309045"/>
            <a:ext cx="2961427" cy="637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ES256/ES384 JWT algorithms use ECDSA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P-256/P-384 for signing access tokens in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OAuth 2.0 and OpenID Connect. Preferred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over RS256 for smaller token size.</a:t>
            </a:r>
            <a:endParaRPr lang="en-US" sz="830" dirty="0"/>
          </a:p>
        </p:txBody>
      </p:sp>
      <p:sp>
        <p:nvSpPr>
          <p:cNvPr id="37" name="Shape 28"/>
          <p:cNvSpPr/>
          <p:nvPr/>
        </p:nvSpPr>
        <p:spPr>
          <a:xfrm>
            <a:off x="3445632" y="4611030"/>
            <a:ext cx="2252663" cy="209550"/>
          </a:xfrm>
          <a:prstGeom prst="roundRect">
            <a:avLst>
              <a:gd name="adj" fmla="val 18182"/>
            </a:avLst>
          </a:prstGeom>
          <a:solidFill>
            <a:srgbClr val="7C5CFF">
              <a:alpha val="8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3541961" y="4651995"/>
            <a:ext cx="176787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RFC 7518 · ES256 / ES384</a:t>
            </a:r>
            <a:endParaRPr lang="en-US" sz="720" dirty="0"/>
          </a:p>
        </p:txBody>
      </p:sp>
      <p:sp>
        <p:nvSpPr>
          <p:cNvPr id="39" name="Shape 30"/>
          <p:cNvSpPr/>
          <p:nvPr/>
        </p:nvSpPr>
        <p:spPr>
          <a:xfrm>
            <a:off x="6050273" y="2979279"/>
            <a:ext cx="2590800" cy="1957388"/>
          </a:xfrm>
          <a:prstGeom prst="roundRect">
            <a:avLst>
              <a:gd name="adj" fmla="val 3893"/>
            </a:avLst>
          </a:prstGeom>
          <a:solidFill>
            <a:srgbClr val="FF5C5C">
              <a:alpha val="6000"/>
            </a:srgbClr>
          </a:solidFill>
          <a:ln w="4763">
            <a:solidFill>
              <a:srgbClr val="FF5C5C">
                <a:alpha val="25000"/>
              </a:srgbClr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055035" y="2982888"/>
            <a:ext cx="2581275" cy="14288"/>
          </a:xfrm>
          <a:prstGeom prst="rect">
            <a:avLst/>
          </a:prstGeom>
          <a:solidFill>
            <a:srgbClr val="FF5C5C">
              <a:alpha val="80000"/>
            </a:srgbClr>
          </a:solidFill>
          <a:ln/>
        </p:spPr>
      </p:sp>
      <p:sp>
        <p:nvSpPr>
          <p:cNvPr id="41" name="Text 32"/>
          <p:cNvSpPr/>
          <p:nvPr/>
        </p:nvSpPr>
        <p:spPr>
          <a:xfrm>
            <a:off x="6219527" y="3105522"/>
            <a:ext cx="132093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830" b="1" dirty="0">
                <a:solidFill>
                  <a:srgbClr val="FF5C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Quantum Exposure</a:t>
            </a:r>
            <a:endParaRPr lang="en-US" sz="830" dirty="0"/>
          </a:p>
        </p:txBody>
      </p:sp>
      <p:sp>
        <p:nvSpPr>
          <p:cNvPr id="42" name="Text 33"/>
          <p:cNvSpPr/>
          <p:nvPr/>
        </p:nvSpPr>
        <p:spPr>
          <a:xfrm>
            <a:off x="6219527" y="3309045"/>
            <a:ext cx="2968295" cy="637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Shor's algorithm solves the elliptic curve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discrete logarithm in polynomial time. All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ECDH and ECDSA deployments are broken —</a:t>
            </a:r>
            <a:endParaRPr lang="en-US" sz="830" dirty="0"/>
          </a:p>
          <a:p>
            <a:pPr algn="l" indent="0" marL="0">
              <a:lnSpc>
                <a:spcPts val="1324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including blockchain wallets and passkeys.</a:t>
            </a:r>
            <a:endParaRPr lang="en-US" sz="830" dirty="0"/>
          </a:p>
        </p:txBody>
      </p:sp>
      <p:sp>
        <p:nvSpPr>
          <p:cNvPr id="43" name="Shape 34"/>
          <p:cNvSpPr/>
          <p:nvPr/>
        </p:nvSpPr>
        <p:spPr>
          <a:xfrm>
            <a:off x="6219341" y="4611030"/>
            <a:ext cx="2252663" cy="209550"/>
          </a:xfrm>
          <a:prstGeom prst="roundRect">
            <a:avLst>
              <a:gd name="adj" fmla="val 18182"/>
            </a:avLst>
          </a:prstGeom>
          <a:solidFill>
            <a:srgbClr val="FF5C5C">
              <a:alpha val="10000"/>
            </a:srgbClr>
          </a:solidFill>
          <a:ln w="4763">
            <a:solidFill>
              <a:srgbClr val="FF5C5C">
                <a:alpha val="25000"/>
              </a:srgbClr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6315670" y="4651995"/>
            <a:ext cx="219574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FF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Shor's → ECDLP broken in O(n³)</a:t>
            </a:r>
            <a:endParaRPr lang="en-US" sz="720" dirty="0"/>
          </a:p>
        </p:txBody>
      </p:sp>
      <p:sp>
        <p:nvSpPr>
          <p:cNvPr id="45" name="Text 36"/>
          <p:cNvSpPr/>
          <p:nvPr/>
        </p:nvSpPr>
        <p:spPr>
          <a:xfrm>
            <a:off x="8329240" y="4895850"/>
            <a:ext cx="46258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 / 20</a:t>
            </a:r>
            <a:endParaRPr lang="en-US" sz="8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890" y="228600"/>
            <a:ext cx="5455823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Number Theory to Lattices</a:t>
            </a:r>
            <a:endParaRPr lang="en-US" sz="2230" dirty="0"/>
          </a:p>
        </p:txBody>
      </p:sp>
      <p:sp>
        <p:nvSpPr>
          <p:cNvPr id="6" name="Shape 2"/>
          <p:cNvSpPr/>
          <p:nvPr/>
        </p:nvSpPr>
        <p:spPr>
          <a:xfrm>
            <a:off x="503858" y="737964"/>
            <a:ext cx="4067175" cy="952500"/>
          </a:xfrm>
          <a:prstGeom prst="roundRect">
            <a:avLst>
              <a:gd name="adj" fmla="val 6000"/>
            </a:avLst>
          </a:prstGeom>
          <a:solidFill>
            <a:srgbClr val="141938"/>
          </a:solidFill>
          <a:ln w="4763">
            <a:solidFill>
              <a:srgbClr val="FF5C5C">
                <a:alpha val="22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89707" y="845121"/>
            <a:ext cx="38100" cy="738188"/>
          </a:xfrm>
          <a:prstGeom prst="roundRect">
            <a:avLst>
              <a:gd name="adj" fmla="val 25000"/>
            </a:avLst>
          </a:prstGeom>
          <a:solidFill>
            <a:srgbClr val="FF5C5C"/>
          </a:solidFill>
          <a:ln/>
        </p:spPr>
      </p:sp>
      <p:sp>
        <p:nvSpPr>
          <p:cNvPr id="8" name="Text 4"/>
          <p:cNvSpPr/>
          <p:nvPr/>
        </p:nvSpPr>
        <p:spPr>
          <a:xfrm>
            <a:off x="864171" y="941338"/>
            <a:ext cx="29219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108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Shor's algorithm: complete break</a:t>
            </a:r>
            <a:endParaRPr lang="en-US" sz="1080" dirty="0"/>
          </a:p>
        </p:txBody>
      </p:sp>
      <p:sp>
        <p:nvSpPr>
          <p:cNvPr id="9" name="Text 5"/>
          <p:cNvSpPr/>
          <p:nvPr/>
        </p:nvSpPr>
        <p:spPr>
          <a:xfrm>
            <a:off x="864171" y="1172691"/>
            <a:ext cx="458295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Factors integers and computes discrete logarithms in polynomial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time — RSA and ECC both fall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03858" y="1820242"/>
            <a:ext cx="4067175" cy="952500"/>
          </a:xfrm>
          <a:prstGeom prst="roundRect">
            <a:avLst>
              <a:gd name="adj" fmla="val 6000"/>
            </a:avLst>
          </a:prstGeom>
          <a:solidFill>
            <a:srgbClr val="141938"/>
          </a:solidFill>
          <a:ln w="4763">
            <a:solidFill>
              <a:srgbClr val="FF5C5C">
                <a:alpha val="15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89707" y="1927399"/>
            <a:ext cx="38100" cy="738188"/>
          </a:xfrm>
          <a:prstGeom prst="roundRect">
            <a:avLst>
              <a:gd name="adj" fmla="val 25000"/>
            </a:avLst>
          </a:prstGeom>
          <a:solidFill>
            <a:srgbClr val="FF5C5C">
              <a:alpha val="5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864171" y="2023616"/>
            <a:ext cx="3269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108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Grover's algorithm: partial weakening</a:t>
            </a:r>
            <a:endParaRPr lang="en-US" sz="1080" dirty="0"/>
          </a:p>
        </p:txBody>
      </p:sp>
      <p:sp>
        <p:nvSpPr>
          <p:cNvPr id="13" name="Text 9"/>
          <p:cNvSpPr/>
          <p:nvPr/>
        </p:nvSpPr>
        <p:spPr>
          <a:xfrm>
            <a:off x="864171" y="2254969"/>
            <a:ext cx="451697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Provides quadratic speedup on search — symmetric key lengths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must double to compensate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03858" y="2902521"/>
            <a:ext cx="4067175" cy="952500"/>
          </a:xfrm>
          <a:prstGeom prst="roundRect">
            <a:avLst>
              <a:gd name="adj" fmla="val 6000"/>
            </a:avLst>
          </a:prstGeom>
          <a:solidFill>
            <a:srgbClr val="141938"/>
          </a:solidFill>
          <a:ln w="4763">
            <a:solidFill>
              <a:srgbClr val="20E3B2">
                <a:alpha val="22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9707" y="3009677"/>
            <a:ext cx="38100" cy="738188"/>
          </a:xfrm>
          <a:prstGeom prst="roundRect">
            <a:avLst>
              <a:gd name="adj" fmla="val 25000"/>
            </a:avLst>
          </a:prstGeom>
          <a:solidFill>
            <a:srgbClr val="20E3B2"/>
          </a:solidFill>
          <a:ln/>
        </p:spPr>
      </p:sp>
      <p:sp>
        <p:nvSpPr>
          <p:cNvPr id="16" name="Text 12"/>
          <p:cNvSpPr/>
          <p:nvPr/>
        </p:nvSpPr>
        <p:spPr>
          <a:xfrm>
            <a:off x="864171" y="3105894"/>
            <a:ext cx="35079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108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Lattice assumptions: quantum-resistant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864171" y="3337247"/>
            <a:ext cx="445438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known quantum algorithm achieves meaningful speedup on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LWE or SIS problems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03858" y="3984799"/>
            <a:ext cx="4067175" cy="952500"/>
          </a:xfrm>
          <a:prstGeom prst="roundRect">
            <a:avLst>
              <a:gd name="adj" fmla="val 6000"/>
            </a:avLst>
          </a:prstGeom>
          <a:solidFill>
            <a:srgbClr val="141938"/>
          </a:solidFill>
          <a:ln w="4763">
            <a:solidFill>
              <a:srgbClr val="7C5CFF">
                <a:alpha val="22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9707" y="4091955"/>
            <a:ext cx="38100" cy="738188"/>
          </a:xfrm>
          <a:prstGeom prst="roundRect">
            <a:avLst>
              <a:gd name="adj" fmla="val 25000"/>
            </a:avLst>
          </a:prstGeom>
          <a:solidFill>
            <a:srgbClr val="7C5CFF"/>
          </a:solidFill>
          <a:ln/>
        </p:spPr>
      </p:sp>
      <p:sp>
        <p:nvSpPr>
          <p:cNvPr id="20" name="Text 16"/>
          <p:cNvSpPr/>
          <p:nvPr/>
        </p:nvSpPr>
        <p:spPr>
          <a:xfrm>
            <a:off x="864171" y="4188172"/>
            <a:ext cx="27303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03"/>
              </a:spcAft>
              <a:buNone/>
            </a:pPr>
            <a:r>
              <a:rPr lang="en-US" sz="108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fundamental shift in structure</a:t>
            </a:r>
            <a:endParaRPr lang="en-US" sz="1080" dirty="0"/>
          </a:p>
        </p:txBody>
      </p:sp>
      <p:sp>
        <p:nvSpPr>
          <p:cNvPr id="21" name="Text 17"/>
          <p:cNvSpPr/>
          <p:nvPr/>
        </p:nvSpPr>
        <p:spPr>
          <a:xfrm>
            <a:off x="864171" y="4419526"/>
            <a:ext cx="459185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elegant low-dimensional algebra to noisy high-dimensional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structured geometry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845844" y="738336"/>
            <a:ext cx="3795712" cy="1866900"/>
          </a:xfrm>
          <a:prstGeom prst="roundRect">
            <a:avLst>
              <a:gd name="adj" fmla="val 4082"/>
            </a:avLst>
          </a:prstGeom>
          <a:solidFill>
            <a:srgbClr val="FF5C5C">
              <a:alpha val="6000"/>
            </a:srgbClr>
          </a:solidFill>
          <a:ln w="4763">
            <a:solidFill>
              <a:srgbClr val="FF5C5C">
                <a:alpha val="25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850606" y="742131"/>
            <a:ext cx="3786188" cy="14288"/>
          </a:xfrm>
          <a:prstGeom prst="rect">
            <a:avLst/>
          </a:prstGeom>
          <a:solidFill>
            <a:srgbClr val="FF5C5C">
              <a:alpha val="70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5033888" y="1177900"/>
            <a:ext cx="18836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830" b="1" spc="99" kern="0" dirty="0">
                <a:solidFill>
                  <a:srgbClr val="FF5C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CLASSICAL HARDNESS</a:t>
            </a:r>
            <a:endParaRPr lang="en-US" sz="830" dirty="0"/>
          </a:p>
        </p:txBody>
      </p:sp>
      <p:sp>
        <p:nvSpPr>
          <p:cNvPr id="25" name="Shape 21"/>
          <p:cNvSpPr/>
          <p:nvPr/>
        </p:nvSpPr>
        <p:spPr>
          <a:xfrm>
            <a:off x="5033479" y="1403114"/>
            <a:ext cx="1504950" cy="452437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5571976" y="1474366"/>
            <a:ext cx="61339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= pq</a:t>
            </a:r>
            <a:endParaRPr lang="en-US" sz="940" dirty="0"/>
          </a:p>
        </p:txBody>
      </p:sp>
      <p:sp>
        <p:nvSpPr>
          <p:cNvPr id="27" name="Text 23"/>
          <p:cNvSpPr/>
          <p:nvPr/>
        </p:nvSpPr>
        <p:spPr>
          <a:xfrm>
            <a:off x="5588422" y="1673126"/>
            <a:ext cx="570637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68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Factoring</a:t>
            </a:r>
            <a:endParaRPr lang="en-US" sz="680" dirty="0"/>
          </a:p>
        </p:txBody>
      </p:sp>
      <p:sp>
        <p:nvSpPr>
          <p:cNvPr id="28" name="Shape 24"/>
          <p:cNvSpPr/>
          <p:nvPr/>
        </p:nvSpPr>
        <p:spPr>
          <a:xfrm>
            <a:off x="6674681" y="1626915"/>
            <a:ext cx="138113" cy="4763"/>
          </a:xfrm>
          <a:prstGeom prst="rect">
            <a:avLst/>
          </a:prstGeom>
          <a:solidFill>
            <a:srgbClr val="FF5C5C">
              <a:alpha val="30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6949046" y="1403114"/>
            <a:ext cx="1504950" cy="452437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7487543" y="1474366"/>
            <a:ext cx="61339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 = dG</a:t>
            </a:r>
            <a:endParaRPr lang="en-US" sz="940" dirty="0"/>
          </a:p>
        </p:txBody>
      </p:sp>
      <p:sp>
        <p:nvSpPr>
          <p:cNvPr id="31" name="Text 27"/>
          <p:cNvSpPr/>
          <p:nvPr/>
        </p:nvSpPr>
        <p:spPr>
          <a:xfrm>
            <a:off x="7557790" y="1673126"/>
            <a:ext cx="430753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68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ECDLP</a:t>
            </a:r>
            <a:endParaRPr lang="en-US" sz="680" dirty="0"/>
          </a:p>
        </p:txBody>
      </p:sp>
      <p:sp>
        <p:nvSpPr>
          <p:cNvPr id="32" name="Shape 28"/>
          <p:cNvSpPr/>
          <p:nvPr/>
        </p:nvSpPr>
        <p:spPr>
          <a:xfrm>
            <a:off x="5033963" y="1932459"/>
            <a:ext cx="3419475" cy="242888"/>
          </a:xfrm>
          <a:prstGeom prst="roundRect">
            <a:avLst>
              <a:gd name="adj" fmla="val 7843"/>
            </a:avLst>
          </a:prstGeom>
          <a:solidFill>
            <a:srgbClr val="FF5C5C">
              <a:alpha val="12000"/>
            </a:srgbClr>
          </a:solidFill>
          <a:ln w="4763">
            <a:solidFill>
              <a:srgbClr val="FF5C5C">
                <a:alpha val="2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130031" y="1987972"/>
            <a:ext cx="17084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FF5C5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Broken by Shor's algorithm</a:t>
            </a:r>
            <a:endParaRPr lang="en-US" sz="79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45" y="2746177"/>
            <a:ext cx="182835" cy="182835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4845844" y="3070027"/>
            <a:ext cx="3795712" cy="1866900"/>
          </a:xfrm>
          <a:prstGeom prst="roundRect">
            <a:avLst>
              <a:gd name="adj" fmla="val 4082"/>
            </a:avLst>
          </a:prstGeom>
          <a:solidFill>
            <a:srgbClr val="20E3B2">
              <a:alpha val="6000"/>
            </a:srgbClr>
          </a:solidFill>
          <a:ln w="4763">
            <a:solidFill>
              <a:srgbClr val="20E3B2">
                <a:alpha val="2800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850606" y="3073822"/>
            <a:ext cx="3786188" cy="14288"/>
          </a:xfrm>
          <a:prstGeom prst="rect">
            <a:avLst/>
          </a:prstGeom>
          <a:solidFill>
            <a:srgbClr val="20E3B2">
              <a:alpha val="70000"/>
            </a:srgbClr>
          </a:solidFill>
          <a:ln/>
        </p:spPr>
      </p:sp>
      <p:sp>
        <p:nvSpPr>
          <p:cNvPr id="37" name="Text 32"/>
          <p:cNvSpPr/>
          <p:nvPr/>
        </p:nvSpPr>
        <p:spPr>
          <a:xfrm>
            <a:off x="5033888" y="3509590"/>
            <a:ext cx="162160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830" b="1" spc="99" kern="0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LATTICE HARDNESS</a:t>
            </a:r>
            <a:endParaRPr lang="en-US" sz="830" dirty="0"/>
          </a:p>
        </p:txBody>
      </p:sp>
      <p:sp>
        <p:nvSpPr>
          <p:cNvPr id="38" name="Shape 33"/>
          <p:cNvSpPr/>
          <p:nvPr/>
        </p:nvSpPr>
        <p:spPr>
          <a:xfrm>
            <a:off x="5033479" y="3734805"/>
            <a:ext cx="1504950" cy="452437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9" name="Text 34"/>
          <p:cNvSpPr/>
          <p:nvPr/>
        </p:nvSpPr>
        <p:spPr>
          <a:xfrm>
            <a:off x="5571976" y="3806056"/>
            <a:ext cx="61339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b=As+e</a:t>
            </a:r>
            <a:endParaRPr lang="en-US" sz="940" dirty="0"/>
          </a:p>
        </p:txBody>
      </p:sp>
      <p:sp>
        <p:nvSpPr>
          <p:cNvPr id="40" name="Text 35"/>
          <p:cNvSpPr/>
          <p:nvPr/>
        </p:nvSpPr>
        <p:spPr>
          <a:xfrm>
            <a:off x="5696620" y="4004816"/>
            <a:ext cx="289419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68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LWE</a:t>
            </a:r>
            <a:endParaRPr lang="en-US" sz="680" dirty="0"/>
          </a:p>
        </p:txBody>
      </p:sp>
      <p:sp>
        <p:nvSpPr>
          <p:cNvPr id="41" name="Shape 36"/>
          <p:cNvSpPr/>
          <p:nvPr/>
        </p:nvSpPr>
        <p:spPr>
          <a:xfrm>
            <a:off x="6674681" y="3958605"/>
            <a:ext cx="138113" cy="4763"/>
          </a:xfrm>
          <a:prstGeom prst="rect">
            <a:avLst/>
          </a:prstGeom>
          <a:solidFill>
            <a:srgbClr val="20E3B2">
              <a:alpha val="30000"/>
            </a:srgbClr>
          </a:solidFill>
          <a:ln/>
        </p:spPr>
      </p:sp>
      <p:sp>
        <p:nvSpPr>
          <p:cNvPr id="42" name="Shape 37"/>
          <p:cNvSpPr/>
          <p:nvPr/>
        </p:nvSpPr>
        <p:spPr>
          <a:xfrm>
            <a:off x="6949046" y="3734805"/>
            <a:ext cx="1504950" cy="452437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3" name="Text 38"/>
          <p:cNvSpPr/>
          <p:nvPr/>
        </p:nvSpPr>
        <p:spPr>
          <a:xfrm>
            <a:off x="7451899" y="3806056"/>
            <a:ext cx="70607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Rq=Zq/f</a:t>
            </a:r>
            <a:endParaRPr lang="en-US" sz="940" dirty="0"/>
          </a:p>
        </p:txBody>
      </p:sp>
      <p:sp>
        <p:nvSpPr>
          <p:cNvPr id="44" name="Text 39"/>
          <p:cNvSpPr/>
          <p:nvPr/>
        </p:nvSpPr>
        <p:spPr>
          <a:xfrm>
            <a:off x="7499152" y="4004816"/>
            <a:ext cx="583310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68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Ring-LWE</a:t>
            </a:r>
            <a:endParaRPr lang="en-US" sz="680" dirty="0"/>
          </a:p>
        </p:txBody>
      </p:sp>
      <p:sp>
        <p:nvSpPr>
          <p:cNvPr id="45" name="Shape 40"/>
          <p:cNvSpPr/>
          <p:nvPr/>
        </p:nvSpPr>
        <p:spPr>
          <a:xfrm>
            <a:off x="5033963" y="4264149"/>
            <a:ext cx="3419475" cy="242888"/>
          </a:xfrm>
          <a:prstGeom prst="roundRect">
            <a:avLst>
              <a:gd name="adj" fmla="val 7843"/>
            </a:avLst>
          </a:prstGeom>
          <a:solidFill>
            <a:srgbClr val="20E3B2">
              <a:alpha val="10000"/>
            </a:srgbClr>
          </a:solidFill>
          <a:ln w="4763">
            <a:solidFill>
              <a:srgbClr val="20E3B2">
                <a:alpha val="20000"/>
              </a:srgbClr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130031" y="4319662"/>
            <a:ext cx="1835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known quantum speedup</a:t>
            </a:r>
            <a:endParaRPr lang="en-US" sz="790" dirty="0"/>
          </a:p>
        </p:txBody>
      </p:sp>
      <p:sp>
        <p:nvSpPr>
          <p:cNvPr id="47" name="Text 42"/>
          <p:cNvSpPr/>
          <p:nvPr/>
        </p:nvSpPr>
        <p:spPr>
          <a:xfrm>
            <a:off x="8304088" y="4895850"/>
            <a:ext cx="49527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/ 20</a:t>
            </a:r>
            <a:endParaRPr lang="en-US" sz="8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6400800" y="3343275"/>
            <a:ext cx="2743200" cy="180022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02890" y="228600"/>
            <a:ext cx="7916168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Lattice Cryptography: Core Mathematical Ideas</a:t>
            </a:r>
            <a:endParaRPr lang="en-US" sz="2230" dirty="0"/>
          </a:p>
        </p:txBody>
      </p:sp>
      <p:sp>
        <p:nvSpPr>
          <p:cNvPr id="7" name="Text 2"/>
          <p:cNvSpPr/>
          <p:nvPr/>
        </p:nvSpPr>
        <p:spPr>
          <a:xfrm>
            <a:off x="502890" y="633710"/>
            <a:ext cx="41224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Three building blocks that underlie ML-KEM and ML-DSA</a:t>
            </a:r>
            <a:endParaRPr lang="en-US" sz="940" dirty="0"/>
          </a:p>
        </p:txBody>
      </p:sp>
      <p:sp>
        <p:nvSpPr>
          <p:cNvPr id="8" name="Shape 3"/>
          <p:cNvSpPr/>
          <p:nvPr/>
        </p:nvSpPr>
        <p:spPr>
          <a:xfrm>
            <a:off x="501960" y="955849"/>
            <a:ext cx="2562225" cy="3524250"/>
          </a:xfrm>
          <a:prstGeom prst="roundRect">
            <a:avLst>
              <a:gd name="adj" fmla="val 2974"/>
            </a:avLst>
          </a:prstGeom>
          <a:solidFill>
            <a:srgbClr val="141938"/>
          </a:solidFill>
          <a:ln w="4763">
            <a:solidFill>
              <a:srgbClr val="00C2FF">
                <a:alpha val="30000"/>
              </a:srgbClr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23" y="961430"/>
            <a:ext cx="2552700" cy="190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6253" y="1150962"/>
            <a:ext cx="10698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790" b="1" spc="119" kern="0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LWE SAMPLE</a:t>
            </a:r>
            <a:endParaRPr lang="en-US" sz="790" dirty="0"/>
          </a:p>
        </p:txBody>
      </p:sp>
      <p:sp>
        <p:nvSpPr>
          <p:cNvPr id="11" name="Text 5"/>
          <p:cNvSpPr/>
          <p:nvPr/>
        </p:nvSpPr>
        <p:spPr>
          <a:xfrm>
            <a:off x="736253" y="1355154"/>
            <a:ext cx="217068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Learning With Errors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735323" y="1669963"/>
            <a:ext cx="2095500" cy="485775"/>
          </a:xfrm>
          <a:prstGeom prst="roundRect">
            <a:avLst>
              <a:gd name="adj" fmla="val 11765"/>
            </a:avLst>
          </a:prstGeom>
          <a:solidFill>
            <a:srgbClr val="00C2FF">
              <a:alpha val="6000"/>
            </a:srgbClr>
          </a:solidFill>
          <a:ln w="4763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905247" y="1817415"/>
            <a:ext cx="23394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9D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 = &lt;a, s&gt; + e mod q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736253" y="2294037"/>
            <a:ext cx="128108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63" kern="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INTERPRETATION</a:t>
            </a:r>
            <a:endParaRPr lang="en-US" sz="790" dirty="0"/>
          </a:p>
        </p:txBody>
      </p:sp>
      <p:sp>
        <p:nvSpPr>
          <p:cNvPr id="15" name="Text 9"/>
          <p:cNvSpPr/>
          <p:nvPr/>
        </p:nvSpPr>
        <p:spPr>
          <a:xfrm>
            <a:off x="736253" y="2505894"/>
            <a:ext cx="2667439" cy="508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Small error term e hides the secret s.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Given many (a, b) pairs, recovering s is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computationally hard.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832396" y="4136454"/>
            <a:ext cx="9967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∈ Zqⁿ (random)</a:t>
            </a:r>
            <a:endParaRPr lang="en-US" sz="720" dirty="0"/>
          </a:p>
        </p:txBody>
      </p:sp>
      <p:sp>
        <p:nvSpPr>
          <p:cNvPr id="17" name="Text 11"/>
          <p:cNvSpPr/>
          <p:nvPr/>
        </p:nvSpPr>
        <p:spPr>
          <a:xfrm>
            <a:off x="1838846" y="4136454"/>
            <a:ext cx="76798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 small noise</a:t>
            </a:r>
            <a:endParaRPr lang="en-US" sz="720" dirty="0"/>
          </a:p>
        </p:txBody>
      </p:sp>
      <p:sp>
        <p:nvSpPr>
          <p:cNvPr id="18" name="Shape 12"/>
          <p:cNvSpPr/>
          <p:nvPr/>
        </p:nvSpPr>
        <p:spPr>
          <a:xfrm>
            <a:off x="3290925" y="955849"/>
            <a:ext cx="2562225" cy="3524250"/>
          </a:xfrm>
          <a:prstGeom prst="roundRect">
            <a:avLst>
              <a:gd name="adj" fmla="val 2974"/>
            </a:avLst>
          </a:prstGeom>
          <a:solidFill>
            <a:srgbClr val="141938"/>
          </a:solidFill>
          <a:ln w="4763">
            <a:solidFill>
              <a:srgbClr val="7C5CFF">
                <a:alpha val="30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5687" y="961430"/>
            <a:ext cx="2552700" cy="190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525217" y="1150962"/>
            <a:ext cx="14392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790" b="1" spc="119" kern="0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RING STRUCTURE</a:t>
            </a:r>
            <a:endParaRPr lang="en-US" sz="790" dirty="0"/>
          </a:p>
        </p:txBody>
      </p:sp>
      <p:sp>
        <p:nvSpPr>
          <p:cNvPr id="21" name="Text 14"/>
          <p:cNvSpPr/>
          <p:nvPr/>
        </p:nvSpPr>
        <p:spPr>
          <a:xfrm>
            <a:off x="3525217" y="1355154"/>
            <a:ext cx="169096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Polynomial Ring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524287" y="1670149"/>
            <a:ext cx="2095500" cy="704850"/>
          </a:xfrm>
          <a:prstGeom prst="roundRect">
            <a:avLst>
              <a:gd name="adj" fmla="val 8108"/>
            </a:avLst>
          </a:prstGeom>
          <a:solidFill>
            <a:srgbClr val="7C5CFF">
              <a:alpha val="6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3667125" y="1817415"/>
            <a:ext cx="2111581" cy="4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C9D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Rq = Zq[x] / (xⁿ +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C9D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1)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3525217" y="2513484"/>
            <a:ext cx="128108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63" kern="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INTERPRETATION</a:t>
            </a:r>
            <a:endParaRPr lang="en-US" sz="790" dirty="0"/>
          </a:p>
        </p:txBody>
      </p:sp>
      <p:sp>
        <p:nvSpPr>
          <p:cNvPr id="25" name="Text 18"/>
          <p:cNvSpPr/>
          <p:nvPr/>
        </p:nvSpPr>
        <p:spPr>
          <a:xfrm>
            <a:off x="3525217" y="2725341"/>
            <a:ext cx="2754503" cy="691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Arithmetic over polynomials mod (xⁿ+1)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enables structured, efficient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computation that replaces matrix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operations.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3621360" y="4136454"/>
            <a:ext cx="10145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 = 256 (ML-KEM)</a:t>
            </a:r>
            <a:endParaRPr lang="en-US" sz="720" dirty="0"/>
          </a:p>
        </p:txBody>
      </p:sp>
      <p:sp>
        <p:nvSpPr>
          <p:cNvPr id="27" name="Text 20"/>
          <p:cNvSpPr/>
          <p:nvPr/>
        </p:nvSpPr>
        <p:spPr>
          <a:xfrm>
            <a:off x="4641503" y="4136454"/>
            <a:ext cx="7495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NTT-friendly</a:t>
            </a:r>
            <a:endParaRPr lang="en-US" sz="720" dirty="0"/>
          </a:p>
        </p:txBody>
      </p:sp>
      <p:sp>
        <p:nvSpPr>
          <p:cNvPr id="28" name="Shape 21"/>
          <p:cNvSpPr/>
          <p:nvPr/>
        </p:nvSpPr>
        <p:spPr>
          <a:xfrm>
            <a:off x="6079889" y="955849"/>
            <a:ext cx="2562225" cy="3524250"/>
          </a:xfrm>
          <a:prstGeom prst="roundRect">
            <a:avLst>
              <a:gd name="adj" fmla="val 2974"/>
            </a:avLst>
          </a:prstGeom>
          <a:solidFill>
            <a:srgbClr val="141938"/>
          </a:solidFill>
          <a:ln w="4763">
            <a:solidFill>
              <a:srgbClr val="20E3B2">
                <a:alpha val="3000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4652" y="961430"/>
            <a:ext cx="2552700" cy="1905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314182" y="1150962"/>
            <a:ext cx="20232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790" b="1" spc="119" kern="0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STRUCTURED HARDNESS</a:t>
            </a:r>
            <a:endParaRPr lang="en-US" sz="790" dirty="0"/>
          </a:p>
        </p:txBody>
      </p:sp>
      <p:sp>
        <p:nvSpPr>
          <p:cNvPr id="31" name="Text 23"/>
          <p:cNvSpPr/>
          <p:nvPr/>
        </p:nvSpPr>
        <p:spPr>
          <a:xfrm>
            <a:off x="6314182" y="1355154"/>
            <a:ext cx="18655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Module-LWE / SIS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6313252" y="1670149"/>
            <a:ext cx="2095500" cy="704850"/>
          </a:xfrm>
          <a:prstGeom prst="roundRect">
            <a:avLst>
              <a:gd name="adj" fmla="val 8108"/>
            </a:avLst>
          </a:prstGeom>
          <a:solidFill>
            <a:srgbClr val="20E3B2">
              <a:alpha val="6000"/>
            </a:srgbClr>
          </a:solidFill>
          <a:ln w="4763">
            <a:solidFill>
              <a:srgbClr val="20E3B2">
                <a:alpha val="20000"/>
              </a:srgbClr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456090" y="1817415"/>
            <a:ext cx="1883375" cy="4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C9D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 = A·s + e, A ∈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C9D1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Rqᵏˣᵏ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314182" y="2513484"/>
            <a:ext cx="128108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spc="63" kern="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INTERPRETATION</a:t>
            </a:r>
            <a:endParaRPr lang="en-US" sz="790" dirty="0"/>
          </a:p>
        </p:txBody>
      </p:sp>
      <p:sp>
        <p:nvSpPr>
          <p:cNvPr id="35" name="Text 27"/>
          <p:cNvSpPr/>
          <p:nvPr/>
        </p:nvSpPr>
        <p:spPr>
          <a:xfrm>
            <a:off x="6314182" y="2725341"/>
            <a:ext cx="2654089" cy="508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 structure balances efficiency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with security — a single parameter k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scales the scheme without redesign.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6410325" y="4136454"/>
            <a:ext cx="9339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k=2,3,4 variants</a:t>
            </a:r>
            <a:endParaRPr lang="en-US" sz="720" dirty="0"/>
          </a:p>
        </p:txBody>
      </p:sp>
      <p:sp>
        <p:nvSpPr>
          <p:cNvPr id="37" name="Text 29"/>
          <p:cNvSpPr/>
          <p:nvPr/>
        </p:nvSpPr>
        <p:spPr>
          <a:xfrm>
            <a:off x="7368480" y="4136454"/>
            <a:ext cx="98632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basis of ML-KEM</a:t>
            </a:r>
            <a:endParaRPr lang="en-US" sz="720" dirty="0"/>
          </a:p>
        </p:txBody>
      </p:sp>
      <p:sp>
        <p:nvSpPr>
          <p:cNvPr id="38" name="Shape 30"/>
          <p:cNvSpPr/>
          <p:nvPr/>
        </p:nvSpPr>
        <p:spPr>
          <a:xfrm>
            <a:off x="502444" y="4581376"/>
            <a:ext cx="8139112" cy="357188"/>
          </a:xfrm>
          <a:prstGeom prst="roundRect">
            <a:avLst>
              <a:gd name="adj" fmla="val 10667"/>
            </a:avLst>
          </a:prstGeom>
          <a:solidFill>
            <a:srgbClr val="7C5CFF">
              <a:alpha val="8000"/>
            </a:srgbClr>
          </a:solidFill>
          <a:ln w="4763">
            <a:solidFill>
              <a:srgbClr val="7C5CFF">
                <a:alpha val="22000"/>
              </a:srgbClr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2991594" y="4673501"/>
            <a:ext cx="41662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i="1" dirty="0">
                <a:solidFill>
                  <a:srgbClr val="C9D1F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This is the conceptual bridge to ML-KEM and ML-DSA.</a:t>
            </a:r>
            <a:endParaRPr lang="en-US" sz="1010" dirty="0"/>
          </a:p>
        </p:txBody>
      </p:sp>
      <p:sp>
        <p:nvSpPr>
          <p:cNvPr id="40" name="Text 32"/>
          <p:cNvSpPr/>
          <p:nvPr/>
        </p:nvSpPr>
        <p:spPr>
          <a:xfrm>
            <a:off x="8303121" y="4895850"/>
            <a:ext cx="49653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 / 20</a:t>
            </a:r>
            <a:endParaRPr lang="en-US" sz="8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890" y="228600"/>
            <a:ext cx="9914974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ML-KEM (Kyber): How Quantum-Safe Key Exchange Works</a:t>
            </a:r>
            <a:endParaRPr lang="en-US" sz="2230" dirty="0"/>
          </a:p>
        </p:txBody>
      </p:sp>
      <p:sp>
        <p:nvSpPr>
          <p:cNvPr id="6" name="Text 2"/>
          <p:cNvSpPr/>
          <p:nvPr/>
        </p:nvSpPr>
        <p:spPr>
          <a:xfrm>
            <a:off x="502890" y="633710"/>
            <a:ext cx="472187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418"/>
              </a:spcAft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module-lattice key encapsulation mechanism — NIST FIPS 203</a:t>
            </a:r>
            <a:endParaRPr lang="en-US" sz="94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816" y="983345"/>
            <a:ext cx="1447800" cy="246697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07578" y="987177"/>
            <a:ext cx="1443038" cy="1428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9" name="Shape 4"/>
          <p:cNvSpPr/>
          <p:nvPr/>
        </p:nvSpPr>
        <p:spPr>
          <a:xfrm>
            <a:off x="1100510" y="1115169"/>
            <a:ext cx="257175" cy="257175"/>
          </a:xfrm>
          <a:prstGeom prst="ellipse">
            <a:avLst/>
          </a:prstGeom>
          <a:solidFill>
            <a:srgbClr val="00C2FF">
              <a:alpha val="15000"/>
            </a:srgbClr>
          </a:solidFill>
          <a:ln w="9525">
            <a:solidFill>
              <a:srgbClr val="00C2F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196132" y="1166217"/>
            <a:ext cx="14276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860" dirty="0"/>
          </a:p>
        </p:txBody>
      </p:sp>
      <p:sp>
        <p:nvSpPr>
          <p:cNvPr id="11" name="Text 6"/>
          <p:cNvSpPr/>
          <p:nvPr/>
        </p:nvSpPr>
        <p:spPr>
          <a:xfrm>
            <a:off x="691195" y="2145357"/>
            <a:ext cx="107580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405"/>
              </a:spcAft>
              <a:buNone/>
            </a:pPr>
            <a:r>
              <a:rPr lang="en-US" sz="83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Generation</a:t>
            </a:r>
            <a:endParaRPr lang="en-US" sz="830" dirty="0"/>
          </a:p>
        </p:txBody>
      </p:sp>
      <p:sp>
        <p:nvSpPr>
          <p:cNvPr id="12" name="Text 7"/>
          <p:cNvSpPr/>
          <p:nvPr/>
        </p:nvSpPr>
        <p:spPr>
          <a:xfrm>
            <a:off x="676212" y="3034680"/>
            <a:ext cx="1105696" cy="2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← seed</a:t>
            </a:r>
            <a:endParaRPr lang="en-US" sz="760" dirty="0"/>
          </a:p>
          <a:p>
            <a:pPr algn="ctr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s, e ← χ small</a:t>
            </a:r>
            <a:endParaRPr lang="en-US" sz="760" dirty="0"/>
          </a:p>
        </p:txBody>
      </p:sp>
      <p:sp>
        <p:nvSpPr>
          <p:cNvPr id="13" name="Shape 8"/>
          <p:cNvSpPr/>
          <p:nvPr/>
        </p:nvSpPr>
        <p:spPr>
          <a:xfrm>
            <a:off x="1950541" y="983345"/>
            <a:ext cx="228600" cy="2466975"/>
          </a:xfrm>
          <a:prstGeom prst="rect">
            <a:avLst/>
          </a:prstGeom>
          <a:solidFill>
            <a:srgbClr val="00C2FF">
              <a:alpha val="4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2539" y="2182564"/>
            <a:ext cx="164529" cy="6853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2179067" y="983345"/>
            <a:ext cx="1443038" cy="2466975"/>
          </a:xfrm>
          <a:prstGeom prst="rect">
            <a:avLst/>
          </a:prstGeom>
          <a:solidFill>
            <a:srgbClr val="141938"/>
          </a:solidFill>
          <a:ln/>
        </p:spPr>
      </p:sp>
      <p:sp>
        <p:nvSpPr>
          <p:cNvPr id="16" name="Shape 10"/>
          <p:cNvSpPr/>
          <p:nvPr/>
        </p:nvSpPr>
        <p:spPr>
          <a:xfrm>
            <a:off x="2179067" y="987177"/>
            <a:ext cx="1443038" cy="14288"/>
          </a:xfrm>
          <a:prstGeom prst="rect">
            <a:avLst/>
          </a:prstGeom>
          <a:solidFill>
            <a:srgbClr val="00C2FF">
              <a:alpha val="80000"/>
            </a:srgbClr>
          </a:solidFill>
          <a:ln/>
        </p:spPr>
      </p:sp>
      <p:sp>
        <p:nvSpPr>
          <p:cNvPr id="17" name="Shape 11"/>
          <p:cNvSpPr/>
          <p:nvPr/>
        </p:nvSpPr>
        <p:spPr>
          <a:xfrm>
            <a:off x="2771998" y="1115169"/>
            <a:ext cx="257175" cy="257175"/>
          </a:xfrm>
          <a:prstGeom prst="ellipse">
            <a:avLst/>
          </a:prstGeom>
          <a:solidFill>
            <a:srgbClr val="00C2FF">
              <a:alpha val="15000"/>
            </a:srgbClr>
          </a:solidFill>
          <a:ln w="9525">
            <a:solidFill>
              <a:srgbClr val="00C2FF">
                <a:alpha val="7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2867620" y="1166217"/>
            <a:ext cx="14276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860" dirty="0"/>
          </a:p>
        </p:txBody>
      </p:sp>
      <p:sp>
        <p:nvSpPr>
          <p:cNvPr id="19" name="Text 13"/>
          <p:cNvSpPr/>
          <p:nvPr/>
        </p:nvSpPr>
        <p:spPr>
          <a:xfrm>
            <a:off x="2529847" y="2145357"/>
            <a:ext cx="74147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405"/>
              </a:spcAft>
              <a:buNone/>
            </a:pPr>
            <a:r>
              <a:rPr lang="en-US" sz="83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 Key</a:t>
            </a:r>
            <a:endParaRPr lang="en-US" sz="830" dirty="0"/>
          </a:p>
        </p:txBody>
      </p:sp>
      <p:sp>
        <p:nvSpPr>
          <p:cNvPr id="20" name="Text 14"/>
          <p:cNvSpPr/>
          <p:nvPr/>
        </p:nvSpPr>
        <p:spPr>
          <a:xfrm>
            <a:off x="2347883" y="3034680"/>
            <a:ext cx="1105406" cy="2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 = A·s + e</a:t>
            </a:r>
            <a:endParaRPr lang="en-US" sz="760" dirty="0"/>
          </a:p>
          <a:p>
            <a:pPr algn="ctr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pk = (t, seed)</a:t>
            </a:r>
            <a:endParaRPr lang="en-US" sz="760" dirty="0"/>
          </a:p>
        </p:txBody>
      </p:sp>
      <p:sp>
        <p:nvSpPr>
          <p:cNvPr id="21" name="Shape 15"/>
          <p:cNvSpPr/>
          <p:nvPr/>
        </p:nvSpPr>
        <p:spPr>
          <a:xfrm>
            <a:off x="3622030" y="983345"/>
            <a:ext cx="228600" cy="2466975"/>
          </a:xfrm>
          <a:prstGeom prst="rect">
            <a:avLst/>
          </a:prstGeom>
          <a:solidFill>
            <a:srgbClr val="00C2FF">
              <a:alpha val="4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4028" y="2182564"/>
            <a:ext cx="164529" cy="6853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3850556" y="983345"/>
            <a:ext cx="1443038" cy="2466975"/>
          </a:xfrm>
          <a:prstGeom prst="rect">
            <a:avLst/>
          </a:prstGeom>
          <a:solidFill>
            <a:srgbClr val="141938"/>
          </a:solidFill>
          <a:ln/>
        </p:spPr>
      </p:sp>
      <p:sp>
        <p:nvSpPr>
          <p:cNvPr id="24" name="Shape 17"/>
          <p:cNvSpPr/>
          <p:nvPr/>
        </p:nvSpPr>
        <p:spPr>
          <a:xfrm>
            <a:off x="3850556" y="987177"/>
            <a:ext cx="1443038" cy="14288"/>
          </a:xfrm>
          <a:prstGeom prst="rect">
            <a:avLst/>
          </a:prstGeom>
          <a:solidFill>
            <a:srgbClr val="00C2FF">
              <a:alpha val="60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4443487" y="1115169"/>
            <a:ext cx="257175" cy="257175"/>
          </a:xfrm>
          <a:prstGeom prst="ellipse">
            <a:avLst/>
          </a:prstGeom>
          <a:solidFill>
            <a:srgbClr val="00C2FF">
              <a:alpha val="12000"/>
            </a:srgbClr>
          </a:solidFill>
          <a:ln w="9525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539109" y="1166217"/>
            <a:ext cx="14276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860" dirty="0"/>
          </a:p>
        </p:txBody>
      </p:sp>
      <p:sp>
        <p:nvSpPr>
          <p:cNvPr id="27" name="Text 20"/>
          <p:cNvSpPr/>
          <p:nvPr/>
        </p:nvSpPr>
        <p:spPr>
          <a:xfrm>
            <a:off x="4136436" y="2145357"/>
            <a:ext cx="87120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405"/>
              </a:spcAft>
              <a:buNone/>
            </a:pPr>
            <a:r>
              <a:rPr lang="en-US" sz="83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Encapsulate</a:t>
            </a:r>
            <a:endParaRPr lang="en-US" sz="830" dirty="0"/>
          </a:p>
        </p:txBody>
      </p:sp>
      <p:sp>
        <p:nvSpPr>
          <p:cNvPr id="28" name="Text 21"/>
          <p:cNvSpPr/>
          <p:nvPr/>
        </p:nvSpPr>
        <p:spPr>
          <a:xfrm>
            <a:off x="4056422" y="3034680"/>
            <a:ext cx="1031304" cy="2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r, e₁, e₂ ← χ</a:t>
            </a:r>
            <a:endParaRPr lang="en-US" sz="760" dirty="0"/>
          </a:p>
          <a:p>
            <a:pPr algn="ctr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= (u, v)</a:t>
            </a:r>
            <a:endParaRPr lang="en-US" sz="760" dirty="0"/>
          </a:p>
        </p:txBody>
      </p:sp>
      <p:sp>
        <p:nvSpPr>
          <p:cNvPr id="29" name="Shape 22"/>
          <p:cNvSpPr/>
          <p:nvPr/>
        </p:nvSpPr>
        <p:spPr>
          <a:xfrm>
            <a:off x="5293519" y="983345"/>
            <a:ext cx="228600" cy="2466975"/>
          </a:xfrm>
          <a:prstGeom prst="rect">
            <a:avLst/>
          </a:prstGeom>
          <a:solidFill>
            <a:srgbClr val="00C2FF">
              <a:alpha val="4000"/>
            </a:srgbClr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5517" y="2182564"/>
            <a:ext cx="164529" cy="68535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522044" y="983345"/>
            <a:ext cx="1443038" cy="2466975"/>
          </a:xfrm>
          <a:prstGeom prst="rect">
            <a:avLst/>
          </a:prstGeom>
          <a:solidFill>
            <a:srgbClr val="141938"/>
          </a:solidFill>
          <a:ln/>
        </p:spPr>
      </p:sp>
      <p:sp>
        <p:nvSpPr>
          <p:cNvPr id="32" name="Shape 24"/>
          <p:cNvSpPr/>
          <p:nvPr/>
        </p:nvSpPr>
        <p:spPr>
          <a:xfrm>
            <a:off x="5522044" y="987177"/>
            <a:ext cx="1443038" cy="14288"/>
          </a:xfrm>
          <a:prstGeom prst="rect">
            <a:avLst/>
          </a:prstGeom>
          <a:solidFill>
            <a:srgbClr val="00C2FF">
              <a:alpha val="40000"/>
            </a:srgbClr>
          </a:solidFill>
          <a:ln/>
        </p:spPr>
      </p:sp>
      <p:sp>
        <p:nvSpPr>
          <p:cNvPr id="33" name="Shape 25"/>
          <p:cNvSpPr/>
          <p:nvPr/>
        </p:nvSpPr>
        <p:spPr>
          <a:xfrm>
            <a:off x="6114976" y="1115169"/>
            <a:ext cx="257175" cy="257175"/>
          </a:xfrm>
          <a:prstGeom prst="ellipse">
            <a:avLst/>
          </a:prstGeom>
          <a:solidFill>
            <a:srgbClr val="00C2FF">
              <a:alpha val="10000"/>
            </a:srgbClr>
          </a:solidFill>
          <a:ln w="9525">
            <a:solidFill>
              <a:srgbClr val="00C2FF">
                <a:alpha val="50000"/>
              </a:srgbClr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210598" y="1166217"/>
            <a:ext cx="14276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860" dirty="0"/>
          </a:p>
        </p:txBody>
      </p:sp>
      <p:sp>
        <p:nvSpPr>
          <p:cNvPr id="35" name="Text 27"/>
          <p:cNvSpPr/>
          <p:nvPr/>
        </p:nvSpPr>
        <p:spPr>
          <a:xfrm>
            <a:off x="5796509" y="2145357"/>
            <a:ext cx="89403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405"/>
              </a:spcAft>
              <a:buNone/>
            </a:pPr>
            <a:r>
              <a:rPr lang="en-US" sz="83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Decapsulate</a:t>
            </a:r>
            <a:endParaRPr lang="en-US" sz="830" dirty="0"/>
          </a:p>
        </p:txBody>
      </p:sp>
      <p:sp>
        <p:nvSpPr>
          <p:cNvPr id="36" name="Text 28"/>
          <p:cNvSpPr/>
          <p:nvPr/>
        </p:nvSpPr>
        <p:spPr>
          <a:xfrm>
            <a:off x="5578547" y="3034680"/>
            <a:ext cx="1330032" cy="2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 sk to recover</a:t>
            </a:r>
            <a:endParaRPr lang="en-US" sz="760" dirty="0"/>
          </a:p>
          <a:p>
            <a:pPr algn="ctr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shared secret K</a:t>
            </a:r>
            <a:endParaRPr lang="en-US" sz="760" dirty="0"/>
          </a:p>
        </p:txBody>
      </p:sp>
      <p:sp>
        <p:nvSpPr>
          <p:cNvPr id="37" name="Shape 29"/>
          <p:cNvSpPr/>
          <p:nvPr/>
        </p:nvSpPr>
        <p:spPr>
          <a:xfrm>
            <a:off x="6965007" y="983345"/>
            <a:ext cx="228600" cy="2466975"/>
          </a:xfrm>
          <a:prstGeom prst="rect">
            <a:avLst/>
          </a:prstGeom>
          <a:solidFill>
            <a:srgbClr val="20E3B2">
              <a:alpha val="4000"/>
            </a:srgbClr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7005" y="2182564"/>
            <a:ext cx="164529" cy="68535"/>
          </a:xfrm>
          <a:prstGeom prst="rect">
            <a:avLst/>
          </a:prstGeom>
        </p:spPr>
      </p:pic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93533" y="983345"/>
            <a:ext cx="1447800" cy="2466975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7193533" y="987177"/>
            <a:ext cx="1443038" cy="14288"/>
          </a:xfrm>
          <a:prstGeom prst="rect">
            <a:avLst/>
          </a:prstGeom>
          <a:solidFill>
            <a:srgbClr val="20E3B2"/>
          </a:solidFill>
          <a:ln/>
        </p:spPr>
      </p:sp>
      <p:sp>
        <p:nvSpPr>
          <p:cNvPr id="41" name="Shape 31"/>
          <p:cNvSpPr/>
          <p:nvPr/>
        </p:nvSpPr>
        <p:spPr>
          <a:xfrm>
            <a:off x="7786464" y="1115169"/>
            <a:ext cx="257175" cy="257175"/>
          </a:xfrm>
          <a:prstGeom prst="ellipse">
            <a:avLst/>
          </a:prstGeom>
          <a:solidFill>
            <a:srgbClr val="20E3B2">
              <a:alpha val="15000"/>
            </a:srgbClr>
          </a:solidFill>
          <a:ln w="9525">
            <a:solidFill>
              <a:srgbClr val="20E3B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7882086" y="1166217"/>
            <a:ext cx="14276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860" dirty="0"/>
          </a:p>
        </p:txBody>
      </p:sp>
      <p:sp>
        <p:nvSpPr>
          <p:cNvPr id="43" name="Text 33"/>
          <p:cNvSpPr/>
          <p:nvPr/>
        </p:nvSpPr>
        <p:spPr>
          <a:xfrm>
            <a:off x="7445361" y="2145357"/>
            <a:ext cx="93930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spcAft>
                <a:spcPts val="405"/>
              </a:spcAft>
              <a:buNone/>
            </a:pPr>
            <a:r>
              <a:rPr lang="en-US" sz="830" b="1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 Transform</a:t>
            </a:r>
            <a:endParaRPr lang="en-US" sz="830" dirty="0"/>
          </a:p>
        </p:txBody>
      </p:sp>
      <p:sp>
        <p:nvSpPr>
          <p:cNvPr id="44" name="Text 34"/>
          <p:cNvSpPr/>
          <p:nvPr/>
        </p:nvSpPr>
        <p:spPr>
          <a:xfrm>
            <a:off x="7250036" y="3034680"/>
            <a:ext cx="1330032" cy="2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CCA-secure KEM</a:t>
            </a:r>
            <a:endParaRPr lang="en-US" sz="760" dirty="0"/>
          </a:p>
          <a:p>
            <a:pPr algn="ctr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via re-encryption</a:t>
            </a:r>
            <a:endParaRPr lang="en-US" sz="760" dirty="0"/>
          </a:p>
        </p:txBody>
      </p:sp>
      <p:sp>
        <p:nvSpPr>
          <p:cNvPr id="45" name="Shape 35"/>
          <p:cNvSpPr/>
          <p:nvPr/>
        </p:nvSpPr>
        <p:spPr>
          <a:xfrm>
            <a:off x="502444" y="3579986"/>
            <a:ext cx="8139112" cy="400050"/>
          </a:xfrm>
          <a:prstGeom prst="roundRect">
            <a:avLst>
              <a:gd name="adj" fmla="val 14286"/>
            </a:avLst>
          </a:prstGeom>
          <a:solidFill>
            <a:srgbClr val="7C5CFF">
              <a:alpha val="8000"/>
            </a:srgbClr>
          </a:solidFill>
          <a:ln w="4763">
            <a:solidFill>
              <a:srgbClr val="7C5CFF">
                <a:alpha val="22000"/>
              </a:srgbClr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690488" y="3692203"/>
            <a:ext cx="66285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i="1" dirty="0">
                <a:solidFill>
                  <a:srgbClr val="C9D1F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ML-KEM is designed as a practical replacement for Diffie-Hellman-style key establishment.</a:t>
            </a:r>
            <a:endParaRPr lang="en-US" sz="970" dirty="0"/>
          </a:p>
        </p:txBody>
      </p:sp>
      <p:sp>
        <p:nvSpPr>
          <p:cNvPr id="47" name="Shape 37"/>
          <p:cNvSpPr/>
          <p:nvPr/>
        </p:nvSpPr>
        <p:spPr>
          <a:xfrm>
            <a:off x="6175028" y="3677617"/>
            <a:ext cx="4763" cy="204787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8" name="Text 38"/>
          <p:cNvSpPr/>
          <p:nvPr/>
        </p:nvSpPr>
        <p:spPr>
          <a:xfrm>
            <a:off x="6477074" y="3717503"/>
            <a:ext cx="44719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TLS 1.3</a:t>
            </a:r>
            <a:endParaRPr lang="en-US" sz="760" dirty="0"/>
          </a:p>
        </p:txBody>
      </p:sp>
      <p:sp>
        <p:nvSpPr>
          <p:cNvPr id="49" name="Text 39"/>
          <p:cNvSpPr/>
          <p:nvPr/>
        </p:nvSpPr>
        <p:spPr>
          <a:xfrm>
            <a:off x="7143155" y="3717503"/>
            <a:ext cx="37416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VPNs</a:t>
            </a:r>
            <a:endParaRPr lang="en-US" sz="760" dirty="0"/>
          </a:p>
        </p:txBody>
      </p:sp>
      <p:sp>
        <p:nvSpPr>
          <p:cNvPr id="50" name="Text 40"/>
          <p:cNvSpPr/>
          <p:nvPr/>
        </p:nvSpPr>
        <p:spPr>
          <a:xfrm>
            <a:off x="7753052" y="3717503"/>
            <a:ext cx="81896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 keys</a:t>
            </a:r>
            <a:endParaRPr lang="en-US" sz="760" dirty="0"/>
          </a:p>
        </p:txBody>
      </p:sp>
      <p:sp>
        <p:nvSpPr>
          <p:cNvPr id="51" name="Text 41"/>
          <p:cNvSpPr/>
          <p:nvPr/>
        </p:nvSpPr>
        <p:spPr>
          <a:xfrm>
            <a:off x="8300814" y="4895850"/>
            <a:ext cx="49953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 / 20</a:t>
            </a:r>
            <a:endParaRPr lang="en-US" sz="860" dirty="0"/>
          </a:p>
        </p:txBody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2816" y="983345"/>
            <a:ext cx="1447800" cy="2466975"/>
          </a:xfrm>
          <a:prstGeom prst="rect">
            <a:avLst/>
          </a:prstGeom>
        </p:spPr>
      </p:pic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0541" y="983345"/>
            <a:ext cx="228600" cy="2466975"/>
          </a:xfrm>
          <a:prstGeom prst="rect">
            <a:avLst/>
          </a:prstGeom>
        </p:spPr>
      </p:pic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179067" y="983345"/>
            <a:ext cx="1443038" cy="2466975"/>
          </a:xfrm>
          <a:prstGeom prst="rect">
            <a:avLst/>
          </a:prstGeom>
        </p:spPr>
      </p:pic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22030" y="983345"/>
            <a:ext cx="228600" cy="2466975"/>
          </a:xfrm>
          <a:prstGeom prst="rect">
            <a:avLst/>
          </a:prstGeom>
        </p:spPr>
      </p:pic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50556" y="983345"/>
            <a:ext cx="1443038" cy="2466975"/>
          </a:xfrm>
          <a:prstGeom prst="rect">
            <a:avLst/>
          </a:prstGeom>
        </p:spPr>
      </p:pic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293519" y="983345"/>
            <a:ext cx="228600" cy="2466975"/>
          </a:xfrm>
          <a:prstGeom prst="rect">
            <a:avLst/>
          </a:prstGeom>
        </p:spPr>
      </p:pic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522044" y="983345"/>
            <a:ext cx="1443038" cy="2466975"/>
          </a:xfrm>
          <a:prstGeom prst="rect">
            <a:avLst/>
          </a:prstGeom>
        </p:spPr>
      </p:pic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965007" y="983345"/>
            <a:ext cx="228600" cy="2466975"/>
          </a:xfrm>
          <a:prstGeom prst="rect">
            <a:avLst/>
          </a:prstGeom>
        </p:spPr>
      </p:pic>
      <p:pic>
        <p:nvPicPr>
          <p:cNvPr id="60" name="Image 16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193533" y="983345"/>
            <a:ext cx="1447800" cy="24669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3820" y="304465"/>
            <a:ext cx="409575" cy="409575"/>
          </a:xfrm>
          <a:prstGeom prst="roundRect">
            <a:avLst>
              <a:gd name="adj" fmla="val 13953"/>
            </a:avLst>
          </a:prstGeom>
          <a:solidFill>
            <a:srgbClr val="20E3B2">
              <a:alpha val="10000"/>
            </a:srgbClr>
          </a:solidFill>
          <a:ln w="9525">
            <a:solidFill>
              <a:srgbClr val="20E3B2">
                <a:alpha val="3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13916" y="435173"/>
            <a:ext cx="30325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KEM</a:t>
            </a:r>
            <a:endParaRPr lang="en-US" sz="830" dirty="0"/>
          </a:p>
        </p:txBody>
      </p:sp>
      <p:sp>
        <p:nvSpPr>
          <p:cNvPr id="7" name="Text 3"/>
          <p:cNvSpPr/>
          <p:nvPr/>
        </p:nvSpPr>
        <p:spPr>
          <a:xfrm>
            <a:off x="1051471" y="228600"/>
            <a:ext cx="3480621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ML-KEM in Practice</a:t>
            </a:r>
            <a:endParaRPr lang="en-US" sz="2230" dirty="0"/>
          </a:p>
        </p:txBody>
      </p:sp>
      <p:sp>
        <p:nvSpPr>
          <p:cNvPr id="8" name="Text 4"/>
          <p:cNvSpPr/>
          <p:nvPr/>
        </p:nvSpPr>
        <p:spPr>
          <a:xfrm>
            <a:off x="1051471" y="592634"/>
            <a:ext cx="558564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FIPS 203 — the post-quantum replacement for Diffie-Hellman key exchange</a:t>
            </a:r>
            <a:endParaRPr lang="en-US" sz="940" dirty="0"/>
          </a:p>
        </p:txBody>
      </p:sp>
      <p:sp>
        <p:nvSpPr>
          <p:cNvPr id="9" name="Shape 5"/>
          <p:cNvSpPr/>
          <p:nvPr/>
        </p:nvSpPr>
        <p:spPr>
          <a:xfrm>
            <a:off x="502518" y="916595"/>
            <a:ext cx="4476750" cy="985838"/>
          </a:xfrm>
          <a:prstGeom prst="roundRect">
            <a:avLst>
              <a:gd name="adj" fmla="val 5797"/>
            </a:avLst>
          </a:prstGeom>
          <a:solidFill>
            <a:srgbClr val="20E3B2">
              <a:alpha val="6000"/>
            </a:srgbClr>
          </a:solidFill>
          <a:ln w="4763">
            <a:solidFill>
              <a:srgbClr val="20E3B2">
                <a:alpha val="2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798" y="1012106"/>
            <a:ext cx="199520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860" b="1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Hybrid TLS 1.3 Key Exchange</a:t>
            </a:r>
            <a:endParaRPr lang="en-US" sz="860" dirty="0"/>
          </a:p>
        </p:txBody>
      </p:sp>
      <p:sp>
        <p:nvSpPr>
          <p:cNvPr id="11" name="Text 7"/>
          <p:cNvSpPr/>
          <p:nvPr/>
        </p:nvSpPr>
        <p:spPr>
          <a:xfrm>
            <a:off x="644798" y="1192485"/>
            <a:ext cx="34440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68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X25519Kyber768 · IETF draft-ietf-tls-hybrid-design</a:t>
            </a:r>
            <a:endParaRPr lang="en-US" sz="680" dirty="0"/>
          </a:p>
        </p:txBody>
      </p:sp>
      <p:sp>
        <p:nvSpPr>
          <p:cNvPr id="12" name="Text 8"/>
          <p:cNvSpPr/>
          <p:nvPr/>
        </p:nvSpPr>
        <p:spPr>
          <a:xfrm>
            <a:off x="644798" y="1358280"/>
            <a:ext cx="5436959" cy="44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dominant deployment path: combine X25519 (classical) with ML-KEM-768 (PQC) in a</a:t>
            </a:r>
            <a:endParaRPr lang="en-US" sz="790" dirty="0"/>
          </a:p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single TLS handshake. If either scheme is secure, the session key is secure. Google</a:t>
            </a:r>
            <a:endParaRPr lang="en-US" sz="790" dirty="0"/>
          </a:p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Chrome and Cloudflare already deploy this.</a:t>
            </a:r>
            <a:endParaRPr lang="en-US" sz="790" dirty="0"/>
          </a:p>
        </p:txBody>
      </p:sp>
      <p:sp>
        <p:nvSpPr>
          <p:cNvPr id="13" name="Shape 9"/>
          <p:cNvSpPr/>
          <p:nvPr/>
        </p:nvSpPr>
        <p:spPr>
          <a:xfrm>
            <a:off x="502518" y="1995264"/>
            <a:ext cx="4476750" cy="833437"/>
          </a:xfrm>
          <a:prstGeom prst="roundRect">
            <a:avLst>
              <a:gd name="adj" fmla="val 6857"/>
            </a:avLst>
          </a:prstGeom>
          <a:solidFill>
            <a:srgbClr val="20E3B2">
              <a:alpha val="5000"/>
            </a:srgbClr>
          </a:solidFill>
          <a:ln w="4763">
            <a:solidFill>
              <a:srgbClr val="20E3B2">
                <a:alpha val="22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798" y="2092523"/>
            <a:ext cx="191113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860" b="1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Post-Quantum VPN / IPsec</a:t>
            </a:r>
            <a:endParaRPr lang="en-US" sz="860" dirty="0"/>
          </a:p>
        </p:txBody>
      </p:sp>
      <p:sp>
        <p:nvSpPr>
          <p:cNvPr id="15" name="Text 11"/>
          <p:cNvSpPr/>
          <p:nvPr/>
        </p:nvSpPr>
        <p:spPr>
          <a:xfrm>
            <a:off x="644798" y="2272903"/>
            <a:ext cx="195380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68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IKEv2 PQC profile · RFC 9370</a:t>
            </a:r>
            <a:endParaRPr lang="en-US" sz="680" dirty="0"/>
          </a:p>
        </p:txBody>
      </p:sp>
      <p:sp>
        <p:nvSpPr>
          <p:cNvPr id="16" name="Text 12"/>
          <p:cNvSpPr/>
          <p:nvPr/>
        </p:nvSpPr>
        <p:spPr>
          <a:xfrm>
            <a:off x="644798" y="2438698"/>
            <a:ext cx="5476042" cy="2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IKEv2 has been extended to carry ML-KEM ciphertexts for quantum-safe IKE key</a:t>
            </a:r>
            <a:endParaRPr lang="en-US" sz="790" dirty="0"/>
          </a:p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establishment. OpenVPN and WireGuard experimental forks support hybrid KEM modes.</a:t>
            </a:r>
            <a:endParaRPr lang="en-US" sz="790" dirty="0"/>
          </a:p>
        </p:txBody>
      </p:sp>
      <p:sp>
        <p:nvSpPr>
          <p:cNvPr id="17" name="Shape 13"/>
          <p:cNvSpPr/>
          <p:nvPr/>
        </p:nvSpPr>
        <p:spPr>
          <a:xfrm>
            <a:off x="502518" y="2921533"/>
            <a:ext cx="4476750" cy="985838"/>
          </a:xfrm>
          <a:prstGeom prst="roundRect">
            <a:avLst>
              <a:gd name="adj" fmla="val 5797"/>
            </a:avLst>
          </a:prstGeom>
          <a:solidFill>
            <a:srgbClr val="20E3B2">
              <a:alpha val="5000"/>
            </a:srgbClr>
          </a:solidFill>
          <a:ln w="4763">
            <a:solidFill>
              <a:srgbClr val="20E3B2">
                <a:alpha val="22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4798" y="3017044"/>
            <a:ext cx="224701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860" b="1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Encrypted Messaging Protocols</a:t>
            </a:r>
            <a:endParaRPr lang="en-US" sz="860" dirty="0"/>
          </a:p>
        </p:txBody>
      </p:sp>
      <p:sp>
        <p:nvSpPr>
          <p:cNvPr id="19" name="Text 15"/>
          <p:cNvSpPr/>
          <p:nvPr/>
        </p:nvSpPr>
        <p:spPr>
          <a:xfrm>
            <a:off x="644798" y="3197423"/>
            <a:ext cx="188608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68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 PQXDH · X-Wing draft</a:t>
            </a:r>
            <a:endParaRPr lang="en-US" sz="680" dirty="0"/>
          </a:p>
        </p:txBody>
      </p:sp>
      <p:sp>
        <p:nvSpPr>
          <p:cNvPr id="20" name="Text 16"/>
          <p:cNvSpPr/>
          <p:nvPr/>
        </p:nvSpPr>
        <p:spPr>
          <a:xfrm>
            <a:off x="644798" y="3363218"/>
            <a:ext cx="5266603" cy="44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Signal Protocol upgraded its X3DH handshake to PQXDH using ML-KEM-1024. The</a:t>
            </a:r>
            <a:endParaRPr lang="en-US" sz="790" dirty="0"/>
          </a:p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X-Wing hybrid KEM (X25519 + ML-KEM-768) is proposed as a standard building block for</a:t>
            </a:r>
            <a:endParaRPr lang="en-US" sz="790" dirty="0"/>
          </a:p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messaging apps.</a:t>
            </a:r>
            <a:endParaRPr lang="en-US" sz="790" dirty="0"/>
          </a:p>
        </p:txBody>
      </p:sp>
      <p:sp>
        <p:nvSpPr>
          <p:cNvPr id="21" name="Shape 17"/>
          <p:cNvSpPr/>
          <p:nvPr/>
        </p:nvSpPr>
        <p:spPr>
          <a:xfrm>
            <a:off x="502518" y="4000202"/>
            <a:ext cx="4476750" cy="833437"/>
          </a:xfrm>
          <a:prstGeom prst="roundRect">
            <a:avLst>
              <a:gd name="adj" fmla="val 6857"/>
            </a:avLst>
          </a:prstGeom>
          <a:solidFill>
            <a:srgbClr val="20E3B2">
              <a:alpha val="5000"/>
            </a:srgbClr>
          </a:solidFill>
          <a:ln w="4763">
            <a:solidFill>
              <a:srgbClr val="20E3B2">
                <a:alpha val="22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798" y="4097462"/>
            <a:ext cx="2399377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860" b="1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SSH Post-Quantum Key Exchange</a:t>
            </a:r>
            <a:endParaRPr lang="en-US" sz="860" dirty="0"/>
          </a:p>
        </p:txBody>
      </p:sp>
      <p:sp>
        <p:nvSpPr>
          <p:cNvPr id="23" name="Text 19"/>
          <p:cNvSpPr/>
          <p:nvPr/>
        </p:nvSpPr>
        <p:spPr>
          <a:xfrm>
            <a:off x="644798" y="4277841"/>
            <a:ext cx="202151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68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openssh 9.0+ · mlkem768x25519</a:t>
            </a:r>
            <a:endParaRPr lang="en-US" sz="680" dirty="0"/>
          </a:p>
        </p:txBody>
      </p:sp>
      <p:sp>
        <p:nvSpPr>
          <p:cNvPr id="24" name="Text 20"/>
          <p:cNvSpPr/>
          <p:nvPr/>
        </p:nvSpPr>
        <p:spPr>
          <a:xfrm>
            <a:off x="644798" y="4443636"/>
            <a:ext cx="5269989" cy="2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OpenSSH 9.0 shipped mlkem768x25519-sha256 as a hybrid KEX method. Many Linux</a:t>
            </a:r>
            <a:endParaRPr lang="en-US" sz="790" dirty="0"/>
          </a:p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distributions now enable it by default, making SSH handshakes quantum-resistant.</a:t>
            </a:r>
            <a:endParaRPr lang="en-US" sz="790" dirty="0"/>
          </a:p>
        </p:txBody>
      </p:sp>
      <p:sp>
        <p:nvSpPr>
          <p:cNvPr id="25" name="Shape 21"/>
          <p:cNvSpPr/>
          <p:nvPr/>
        </p:nvSpPr>
        <p:spPr>
          <a:xfrm>
            <a:off x="5207422" y="916186"/>
            <a:ext cx="3433762" cy="1724025"/>
          </a:xfrm>
          <a:prstGeom prst="roundRect">
            <a:avLst>
              <a:gd name="adj" fmla="val 4420"/>
            </a:avLst>
          </a:prstGeom>
          <a:solidFill>
            <a:srgbClr val="141938"/>
          </a:solidFill>
          <a:ln w="4763">
            <a:solidFill>
              <a:srgbClr val="20E3B2">
                <a:alpha val="28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212184" y="920353"/>
            <a:ext cx="3424238" cy="14288"/>
          </a:xfrm>
          <a:prstGeom prst="rect">
            <a:avLst/>
          </a:prstGeom>
          <a:solidFill>
            <a:srgbClr val="20E3B2"/>
          </a:solidFill>
          <a:ln/>
        </p:spPr>
      </p:sp>
      <p:sp>
        <p:nvSpPr>
          <p:cNvPr id="27" name="Text 23"/>
          <p:cNvSpPr/>
          <p:nvPr/>
        </p:nvSpPr>
        <p:spPr>
          <a:xfrm>
            <a:off x="5395094" y="1058466"/>
            <a:ext cx="19805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790" b="1" spc="95" kern="0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FACTS: ML-KEM-768</a:t>
            </a:r>
            <a:endParaRPr lang="en-US" sz="790" dirty="0"/>
          </a:p>
        </p:txBody>
      </p:sp>
      <p:sp>
        <p:nvSpPr>
          <p:cNvPr id="28" name="Text 24"/>
          <p:cNvSpPr/>
          <p:nvPr/>
        </p:nvSpPr>
        <p:spPr>
          <a:xfrm>
            <a:off x="5395094" y="1286470"/>
            <a:ext cx="68449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 key</a:t>
            </a:r>
            <a:endParaRPr lang="en-US" sz="790" dirty="0"/>
          </a:p>
        </p:txBody>
      </p:sp>
      <p:sp>
        <p:nvSpPr>
          <p:cNvPr id="29" name="Text 25"/>
          <p:cNvSpPr/>
          <p:nvPr/>
        </p:nvSpPr>
        <p:spPr>
          <a:xfrm>
            <a:off x="7789962" y="1281708"/>
            <a:ext cx="9197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1,184 bytes</a:t>
            </a:r>
            <a:endParaRPr lang="en-US" sz="790" dirty="0"/>
          </a:p>
        </p:txBody>
      </p:sp>
      <p:sp>
        <p:nvSpPr>
          <p:cNvPr id="30" name="Text 26"/>
          <p:cNvSpPr/>
          <p:nvPr/>
        </p:nvSpPr>
        <p:spPr>
          <a:xfrm>
            <a:off x="5395094" y="1544910"/>
            <a:ext cx="72512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Private key</a:t>
            </a:r>
            <a:endParaRPr lang="en-US" sz="790" dirty="0"/>
          </a:p>
        </p:txBody>
      </p:sp>
      <p:sp>
        <p:nvSpPr>
          <p:cNvPr id="31" name="Text 27"/>
          <p:cNvSpPr/>
          <p:nvPr/>
        </p:nvSpPr>
        <p:spPr>
          <a:xfrm>
            <a:off x="7789962" y="1540148"/>
            <a:ext cx="9197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2,400 bytes</a:t>
            </a:r>
            <a:endParaRPr lang="en-US" sz="790" dirty="0"/>
          </a:p>
        </p:txBody>
      </p:sp>
      <p:sp>
        <p:nvSpPr>
          <p:cNvPr id="32" name="Text 28"/>
          <p:cNvSpPr/>
          <p:nvPr/>
        </p:nvSpPr>
        <p:spPr>
          <a:xfrm>
            <a:off x="5395094" y="1803350"/>
            <a:ext cx="7172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Ciphertext</a:t>
            </a:r>
            <a:endParaRPr lang="en-US" sz="790" dirty="0"/>
          </a:p>
        </p:txBody>
      </p:sp>
      <p:sp>
        <p:nvSpPr>
          <p:cNvPr id="33" name="Text 29"/>
          <p:cNvSpPr/>
          <p:nvPr/>
        </p:nvSpPr>
        <p:spPr>
          <a:xfrm>
            <a:off x="7789962" y="1798588"/>
            <a:ext cx="9197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1,088 bytes</a:t>
            </a:r>
            <a:endParaRPr lang="en-US" sz="790" dirty="0"/>
          </a:p>
        </p:txBody>
      </p:sp>
      <p:sp>
        <p:nvSpPr>
          <p:cNvPr id="34" name="Text 30"/>
          <p:cNvSpPr/>
          <p:nvPr/>
        </p:nvSpPr>
        <p:spPr>
          <a:xfrm>
            <a:off x="5395094" y="2061790"/>
            <a:ext cx="87797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Security level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7729612" y="2057028"/>
            <a:ext cx="99822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NIST Level 3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5395094" y="2320230"/>
            <a:ext cx="63390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Standard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7548711" y="2315468"/>
            <a:ext cx="123339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FIPS 203 (2024)</a:t>
            </a:r>
            <a:endParaRPr lang="en-US" sz="790" dirty="0"/>
          </a:p>
        </p:txBody>
      </p:sp>
      <p:sp>
        <p:nvSpPr>
          <p:cNvPr id="38" name="Shape 34"/>
          <p:cNvSpPr/>
          <p:nvPr/>
        </p:nvSpPr>
        <p:spPr>
          <a:xfrm>
            <a:off x="5207422" y="2742977"/>
            <a:ext cx="3433762" cy="2195513"/>
          </a:xfrm>
          <a:prstGeom prst="roundRect">
            <a:avLst>
              <a:gd name="adj" fmla="val 3471"/>
            </a:avLst>
          </a:prstGeom>
          <a:solidFill>
            <a:srgbClr val="20E3B2">
              <a:alpha val="7000"/>
            </a:srgbClr>
          </a:solidFill>
          <a:ln w="4763">
            <a:solidFill>
              <a:srgbClr val="20E3B2">
                <a:alpha val="22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395094" y="3351461"/>
            <a:ext cx="14969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790" b="1" spc="95" kern="0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ADOPTION STATUS</a:t>
            </a:r>
            <a:endParaRPr lang="en-US" sz="790" dirty="0"/>
          </a:p>
        </p:txBody>
      </p:sp>
      <p:sp>
        <p:nvSpPr>
          <p:cNvPr id="40" name="Shape 36"/>
          <p:cNvSpPr/>
          <p:nvPr/>
        </p:nvSpPr>
        <p:spPr>
          <a:xfrm>
            <a:off x="5394424" y="3592413"/>
            <a:ext cx="33337" cy="33337"/>
          </a:xfrm>
          <a:prstGeom prst="ellipse">
            <a:avLst/>
          </a:prstGeom>
          <a:solidFill>
            <a:srgbClr val="20E3B2"/>
          </a:solidFill>
          <a:ln/>
        </p:spPr>
      </p:sp>
      <p:sp>
        <p:nvSpPr>
          <p:cNvPr id="41" name="Text 37"/>
          <p:cNvSpPr/>
          <p:nvPr/>
        </p:nvSpPr>
        <p:spPr>
          <a:xfrm>
            <a:off x="5500241" y="3564062"/>
            <a:ext cx="33686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Google Chrome deployed X25519Kyber768 in 2023</a:t>
            </a:r>
            <a:endParaRPr lang="en-US" sz="830" dirty="0"/>
          </a:p>
        </p:txBody>
      </p:sp>
      <p:sp>
        <p:nvSpPr>
          <p:cNvPr id="42" name="Shape 38"/>
          <p:cNvSpPr/>
          <p:nvPr/>
        </p:nvSpPr>
        <p:spPr>
          <a:xfrm>
            <a:off x="5394424" y="3801517"/>
            <a:ext cx="33337" cy="33337"/>
          </a:xfrm>
          <a:prstGeom prst="ellipse">
            <a:avLst/>
          </a:prstGeom>
          <a:solidFill>
            <a:srgbClr val="20E3B2"/>
          </a:solidFill>
          <a:ln/>
        </p:spPr>
      </p:sp>
      <p:sp>
        <p:nvSpPr>
          <p:cNvPr id="43" name="Text 39"/>
          <p:cNvSpPr/>
          <p:nvPr/>
        </p:nvSpPr>
        <p:spPr>
          <a:xfrm>
            <a:off x="5500241" y="3773165"/>
            <a:ext cx="3003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Cloudflare serves PQ traffic on all edge nodes</a:t>
            </a:r>
            <a:endParaRPr lang="en-US" sz="830" dirty="0"/>
          </a:p>
        </p:txBody>
      </p:sp>
      <p:sp>
        <p:nvSpPr>
          <p:cNvPr id="44" name="Shape 40"/>
          <p:cNvSpPr/>
          <p:nvPr/>
        </p:nvSpPr>
        <p:spPr>
          <a:xfrm>
            <a:off x="5394424" y="4010620"/>
            <a:ext cx="33337" cy="33337"/>
          </a:xfrm>
          <a:prstGeom prst="ellipse">
            <a:avLst/>
          </a:prstGeom>
          <a:solidFill>
            <a:srgbClr val="20E3B2"/>
          </a:solidFill>
          <a:ln/>
        </p:spPr>
      </p:sp>
      <p:sp>
        <p:nvSpPr>
          <p:cNvPr id="45" name="Text 41"/>
          <p:cNvSpPr/>
          <p:nvPr/>
        </p:nvSpPr>
        <p:spPr>
          <a:xfrm>
            <a:off x="5500241" y="3982269"/>
            <a:ext cx="246486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OpenSSH 9.0+ defaults to hybrid KEX</a:t>
            </a:r>
            <a:endParaRPr lang="en-US" sz="830" dirty="0"/>
          </a:p>
        </p:txBody>
      </p:sp>
      <p:sp>
        <p:nvSpPr>
          <p:cNvPr id="46" name="Shape 42"/>
          <p:cNvSpPr/>
          <p:nvPr/>
        </p:nvSpPr>
        <p:spPr>
          <a:xfrm>
            <a:off x="5394424" y="4219724"/>
            <a:ext cx="33337" cy="33337"/>
          </a:xfrm>
          <a:prstGeom prst="ellipse">
            <a:avLst/>
          </a:prstGeom>
          <a:solidFill>
            <a:srgbClr val="20E3B2"/>
          </a:solidFill>
          <a:ln/>
        </p:spPr>
      </p:sp>
      <p:sp>
        <p:nvSpPr>
          <p:cNvPr id="47" name="Text 43"/>
          <p:cNvSpPr/>
          <p:nvPr/>
        </p:nvSpPr>
        <p:spPr>
          <a:xfrm>
            <a:off x="5500241" y="4191372"/>
            <a:ext cx="29685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AWS KMS adding PQC key derivation support</a:t>
            </a:r>
            <a:endParaRPr lang="en-US" sz="830" dirty="0"/>
          </a:p>
        </p:txBody>
      </p:sp>
      <p:sp>
        <p:nvSpPr>
          <p:cNvPr id="48" name="Text 44"/>
          <p:cNvSpPr/>
          <p:nvPr/>
        </p:nvSpPr>
        <p:spPr>
          <a:xfrm>
            <a:off x="8302377" y="4895850"/>
            <a:ext cx="49750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 / 20</a:t>
            </a:r>
            <a:endParaRPr lang="en-US" sz="860" dirty="0"/>
          </a:p>
        </p:txBody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5540" y="1277689"/>
            <a:ext cx="3057525" cy="195263"/>
          </a:xfrm>
          <a:prstGeom prst="rect">
            <a:avLst/>
          </a:prstGeom>
        </p:spPr>
      </p:pic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5540" y="1536129"/>
            <a:ext cx="3057525" cy="195263"/>
          </a:xfrm>
          <a:prstGeom prst="rect">
            <a:avLst/>
          </a:prstGeom>
        </p:spPr>
      </p:pic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5540" y="1794570"/>
            <a:ext cx="3057525" cy="195263"/>
          </a:xfrm>
          <a:prstGeom prst="rect">
            <a:avLst/>
          </a:prstGeom>
        </p:spPr>
      </p:pic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95540" y="2053010"/>
            <a:ext cx="3057525" cy="195263"/>
          </a:xfrm>
          <a:prstGeom prst="rect">
            <a:avLst/>
          </a:prstGeom>
        </p:spPr>
      </p:pic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95540" y="2311450"/>
            <a:ext cx="3057525" cy="1952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890" y="228600"/>
            <a:ext cx="10508270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ML-DSA (Dilithium): Signatures Through Commit–Challenge–Response</a:t>
            </a:r>
            <a:endParaRPr lang="en-US" sz="2230" dirty="0"/>
          </a:p>
        </p:txBody>
      </p:sp>
      <p:sp>
        <p:nvSpPr>
          <p:cNvPr id="6" name="Text 2"/>
          <p:cNvSpPr/>
          <p:nvPr/>
        </p:nvSpPr>
        <p:spPr>
          <a:xfrm>
            <a:off x="502890" y="959644"/>
            <a:ext cx="297187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Fiat–Shamir with aborts — NIST FIPS 204</a:t>
            </a:r>
            <a:endParaRPr lang="en-US" sz="940" dirty="0"/>
          </a:p>
        </p:txBody>
      </p:sp>
      <p:sp>
        <p:nvSpPr>
          <p:cNvPr id="7" name="Shape 3"/>
          <p:cNvSpPr/>
          <p:nvPr/>
        </p:nvSpPr>
        <p:spPr>
          <a:xfrm>
            <a:off x="503932" y="1406872"/>
            <a:ext cx="290513" cy="290513"/>
          </a:xfrm>
          <a:prstGeom prst="ellipse">
            <a:avLst/>
          </a:prstGeom>
          <a:solidFill>
            <a:srgbClr val="7C5CFF">
              <a:alpha val="15000"/>
            </a:srgbClr>
          </a:solidFill>
          <a:ln w="9525">
            <a:solidFill>
              <a:srgbClr val="7C5C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13470" y="1472505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40" dirty="0"/>
          </a:p>
        </p:txBody>
      </p:sp>
      <p:sp>
        <p:nvSpPr>
          <p:cNvPr id="9" name="Shape 5"/>
          <p:cNvSpPr/>
          <p:nvPr/>
        </p:nvSpPr>
        <p:spPr>
          <a:xfrm>
            <a:off x="933152" y="1283047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74539" y="1383878"/>
            <a:ext cx="20517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Sample masking vector y</a:t>
            </a:r>
            <a:endParaRPr lang="en-US" sz="1010" dirty="0"/>
          </a:p>
        </p:txBody>
      </p:sp>
      <p:sp>
        <p:nvSpPr>
          <p:cNvPr id="11" name="Text 7"/>
          <p:cNvSpPr/>
          <p:nvPr/>
        </p:nvSpPr>
        <p:spPr>
          <a:xfrm>
            <a:off x="1074539" y="1581745"/>
            <a:ext cx="40770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 ← uniform in [-γ₁, γ₁]ˡ · fresh per signature</a:t>
            </a:r>
            <a:endParaRPr lang="en-US" sz="830" dirty="0"/>
          </a:p>
        </p:txBody>
      </p:sp>
      <p:sp>
        <p:nvSpPr>
          <p:cNvPr id="12" name="Shape 8"/>
          <p:cNvSpPr/>
          <p:nvPr/>
        </p:nvSpPr>
        <p:spPr>
          <a:xfrm>
            <a:off x="649188" y="1889224"/>
            <a:ext cx="4763" cy="104775"/>
          </a:xfrm>
          <a:prstGeom prst="rect">
            <a:avLst/>
          </a:prstGeom>
          <a:solidFill>
            <a:srgbClr val="7C5CFF">
              <a:alpha val="3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503932" y="2185839"/>
            <a:ext cx="290513" cy="290513"/>
          </a:xfrm>
          <a:prstGeom prst="ellipse">
            <a:avLst/>
          </a:prstGeom>
          <a:solidFill>
            <a:srgbClr val="7C5CFF">
              <a:alpha val="15000"/>
            </a:srgbClr>
          </a:solidFill>
          <a:ln w="9525">
            <a:solidFill>
              <a:srgbClr val="7C5C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3470" y="2251472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40" dirty="0"/>
          </a:p>
        </p:txBody>
      </p:sp>
      <p:sp>
        <p:nvSpPr>
          <p:cNvPr id="15" name="Shape 11"/>
          <p:cNvSpPr/>
          <p:nvPr/>
        </p:nvSpPr>
        <p:spPr>
          <a:xfrm>
            <a:off x="933152" y="2062014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74539" y="2162845"/>
            <a:ext cx="206688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Compute commitment w</a:t>
            </a:r>
            <a:endParaRPr lang="en-US" sz="1010" dirty="0"/>
          </a:p>
        </p:txBody>
      </p:sp>
      <p:sp>
        <p:nvSpPr>
          <p:cNvPr id="17" name="Text 13"/>
          <p:cNvSpPr/>
          <p:nvPr/>
        </p:nvSpPr>
        <p:spPr>
          <a:xfrm>
            <a:off x="1074539" y="2360712"/>
            <a:ext cx="284592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 = A·y mod q · w₁ = HighBits(w)</a:t>
            </a:r>
            <a:endParaRPr lang="en-US" sz="830" dirty="0"/>
          </a:p>
        </p:txBody>
      </p:sp>
      <p:sp>
        <p:nvSpPr>
          <p:cNvPr id="18" name="Shape 14"/>
          <p:cNvSpPr/>
          <p:nvPr/>
        </p:nvSpPr>
        <p:spPr>
          <a:xfrm>
            <a:off x="649188" y="2668191"/>
            <a:ext cx="4763" cy="104775"/>
          </a:xfrm>
          <a:prstGeom prst="rect">
            <a:avLst/>
          </a:prstGeom>
          <a:solidFill>
            <a:srgbClr val="7C5CFF">
              <a:alpha val="3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503932" y="2964805"/>
            <a:ext cx="290513" cy="290513"/>
          </a:xfrm>
          <a:prstGeom prst="ellipse">
            <a:avLst/>
          </a:prstGeom>
          <a:solidFill>
            <a:srgbClr val="7C5CFF">
              <a:alpha val="15000"/>
            </a:srgbClr>
          </a:solidFill>
          <a:ln w="9525">
            <a:solidFill>
              <a:srgbClr val="7C5C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3470" y="3030438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40" dirty="0"/>
          </a:p>
        </p:txBody>
      </p:sp>
      <p:sp>
        <p:nvSpPr>
          <p:cNvPr id="21" name="Shape 17"/>
          <p:cNvSpPr/>
          <p:nvPr/>
        </p:nvSpPr>
        <p:spPr>
          <a:xfrm>
            <a:off x="933152" y="2840980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74539" y="2941811"/>
            <a:ext cx="152089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Derive challenge c</a:t>
            </a:r>
            <a:endParaRPr lang="en-US" sz="1010" dirty="0"/>
          </a:p>
        </p:txBody>
      </p:sp>
      <p:sp>
        <p:nvSpPr>
          <p:cNvPr id="23" name="Text 19"/>
          <p:cNvSpPr/>
          <p:nvPr/>
        </p:nvSpPr>
        <p:spPr>
          <a:xfrm>
            <a:off x="1074539" y="3139678"/>
            <a:ext cx="358442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= H(w₁ ‖ m) · sparse ternary polynomial</a:t>
            </a:r>
            <a:endParaRPr lang="en-US" sz="830" dirty="0"/>
          </a:p>
        </p:txBody>
      </p:sp>
      <p:sp>
        <p:nvSpPr>
          <p:cNvPr id="24" name="Shape 20"/>
          <p:cNvSpPr/>
          <p:nvPr/>
        </p:nvSpPr>
        <p:spPr>
          <a:xfrm>
            <a:off x="649188" y="3447157"/>
            <a:ext cx="4763" cy="104775"/>
          </a:xfrm>
          <a:prstGeom prst="rect">
            <a:avLst/>
          </a:prstGeom>
          <a:solidFill>
            <a:srgbClr val="7C5CFF">
              <a:alpha val="30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503932" y="3743771"/>
            <a:ext cx="290513" cy="290513"/>
          </a:xfrm>
          <a:prstGeom prst="ellipse">
            <a:avLst/>
          </a:prstGeom>
          <a:solidFill>
            <a:srgbClr val="7C5CFF">
              <a:alpha val="15000"/>
            </a:srgbClr>
          </a:solidFill>
          <a:ln w="9525">
            <a:solidFill>
              <a:srgbClr val="7C5C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13470" y="3809405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40" dirty="0"/>
          </a:p>
        </p:txBody>
      </p:sp>
      <p:sp>
        <p:nvSpPr>
          <p:cNvPr id="27" name="Shape 23"/>
          <p:cNvSpPr/>
          <p:nvPr/>
        </p:nvSpPr>
        <p:spPr>
          <a:xfrm>
            <a:off x="933152" y="3619946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141938"/>
          </a:solidFill>
          <a:ln w="4763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74539" y="3720778"/>
            <a:ext cx="136253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Form response z</a:t>
            </a:r>
            <a:endParaRPr lang="en-US" sz="1010" dirty="0"/>
          </a:p>
        </p:txBody>
      </p:sp>
      <p:sp>
        <p:nvSpPr>
          <p:cNvPr id="29" name="Text 25"/>
          <p:cNvSpPr/>
          <p:nvPr/>
        </p:nvSpPr>
        <p:spPr>
          <a:xfrm>
            <a:off x="1074539" y="3918645"/>
            <a:ext cx="36660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 = y + c·s₁ · bound-checked before output</a:t>
            </a:r>
            <a:endParaRPr lang="en-US" sz="830" dirty="0"/>
          </a:p>
        </p:txBody>
      </p:sp>
      <p:sp>
        <p:nvSpPr>
          <p:cNvPr id="30" name="Shape 26"/>
          <p:cNvSpPr/>
          <p:nvPr/>
        </p:nvSpPr>
        <p:spPr>
          <a:xfrm>
            <a:off x="649188" y="4226123"/>
            <a:ext cx="4763" cy="104775"/>
          </a:xfrm>
          <a:prstGeom prst="rect">
            <a:avLst/>
          </a:prstGeom>
          <a:solidFill>
            <a:srgbClr val="7C5CFF">
              <a:alpha val="30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503932" y="4522738"/>
            <a:ext cx="290513" cy="290513"/>
          </a:xfrm>
          <a:prstGeom prst="ellipse">
            <a:avLst/>
          </a:prstGeom>
          <a:solidFill>
            <a:srgbClr val="20E3B2">
              <a:alpha val="15000"/>
            </a:srgbClr>
          </a:solidFill>
          <a:ln w="9525">
            <a:solidFill>
              <a:srgbClr val="20E3B2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13470" y="4588371"/>
            <a:ext cx="1499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40" dirty="0"/>
          </a:p>
        </p:txBody>
      </p:sp>
      <p:sp>
        <p:nvSpPr>
          <p:cNvPr id="33" name="Shape 29"/>
          <p:cNvSpPr/>
          <p:nvPr/>
        </p:nvSpPr>
        <p:spPr>
          <a:xfrm>
            <a:off x="933152" y="4398913"/>
            <a:ext cx="4614863" cy="538163"/>
          </a:xfrm>
          <a:prstGeom prst="roundRect">
            <a:avLst>
              <a:gd name="adj" fmla="val 10619"/>
            </a:avLst>
          </a:prstGeom>
          <a:solidFill>
            <a:srgbClr val="20E3B2">
              <a:alpha val="6000"/>
            </a:srgbClr>
          </a:solidFill>
          <a:ln w="4763">
            <a:solidFill>
              <a:srgbClr val="20E3B2">
                <a:alpha val="2000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074539" y="4499744"/>
            <a:ext cx="252571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2"/>
              </a:spcAft>
              <a:buNone/>
            </a:pPr>
            <a:r>
              <a:rPr lang="en-US" sz="101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Reject and restart if bounds fail</a:t>
            </a:r>
            <a:endParaRPr lang="en-US" sz="1010" dirty="0"/>
          </a:p>
        </p:txBody>
      </p:sp>
      <p:sp>
        <p:nvSpPr>
          <p:cNvPr id="35" name="Text 31"/>
          <p:cNvSpPr/>
          <p:nvPr/>
        </p:nvSpPr>
        <p:spPr>
          <a:xfrm>
            <a:off x="1074539" y="4697611"/>
            <a:ext cx="27653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‖z‖∞ ≥ γ₁ − β → abort, resample y</a:t>
            </a:r>
            <a:endParaRPr lang="en-US" sz="830" dirty="0"/>
          </a:p>
        </p:txBody>
      </p:sp>
      <p:sp>
        <p:nvSpPr>
          <p:cNvPr id="36" name="Shape 32"/>
          <p:cNvSpPr/>
          <p:nvPr/>
        </p:nvSpPr>
        <p:spPr>
          <a:xfrm>
            <a:off x="5822268" y="1281671"/>
            <a:ext cx="2819400" cy="2609850"/>
          </a:xfrm>
          <a:prstGeom prst="roundRect">
            <a:avLst>
              <a:gd name="adj" fmla="val 2920"/>
            </a:avLst>
          </a:prstGeom>
          <a:solidFill>
            <a:srgbClr val="141938"/>
          </a:solidFill>
          <a:ln w="4763">
            <a:solidFill>
              <a:srgbClr val="7C5CFF">
                <a:alpha val="28000"/>
              </a:srgbClr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030" y="1287363"/>
            <a:ext cx="2809875" cy="1428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010424" y="1819870"/>
            <a:ext cx="193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1010" b="1" dirty="0">
                <a:solidFill>
                  <a:srgbClr val="7C5C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Fiat–Shamir with Aborts</a:t>
            </a:r>
            <a:endParaRPr lang="en-US" sz="1010" dirty="0"/>
          </a:p>
        </p:txBody>
      </p:sp>
      <p:sp>
        <p:nvSpPr>
          <p:cNvPr id="39" name="Shape 34"/>
          <p:cNvSpPr/>
          <p:nvPr/>
        </p:nvSpPr>
        <p:spPr>
          <a:xfrm>
            <a:off x="6010387" y="2079799"/>
            <a:ext cx="2443163" cy="276225"/>
          </a:xfrm>
          <a:prstGeom prst="roundRect">
            <a:avLst>
              <a:gd name="adj" fmla="val 13793"/>
            </a:avLst>
          </a:prstGeom>
          <a:solidFill>
            <a:srgbClr val="00C2FF">
              <a:alpha val="8000"/>
            </a:srgbClr>
          </a:solidFill>
          <a:ln w="4763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017618" y="2145134"/>
            <a:ext cx="614459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Commit</a:t>
            </a:r>
            <a:endParaRPr lang="en-US" sz="86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430" y="2418085"/>
            <a:ext cx="57076" cy="102840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010387" y="2582987"/>
            <a:ext cx="2443163" cy="276225"/>
          </a:xfrm>
          <a:prstGeom prst="roundRect">
            <a:avLst>
              <a:gd name="adj" fmla="val 13793"/>
            </a:avLst>
          </a:prstGeom>
          <a:solidFill>
            <a:srgbClr val="7C5CFF">
              <a:alpha val="8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963296" y="2648322"/>
            <a:ext cx="7556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Challenge</a:t>
            </a:r>
            <a:endParaRPr lang="en-US" sz="86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3430" y="2921273"/>
            <a:ext cx="57076" cy="102840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6010387" y="3086174"/>
            <a:ext cx="2443163" cy="276225"/>
          </a:xfrm>
          <a:prstGeom prst="roundRect">
            <a:avLst>
              <a:gd name="adj" fmla="val 13793"/>
            </a:avLst>
          </a:prstGeom>
          <a:solidFill>
            <a:srgbClr val="20E3B2">
              <a:alpha val="8000"/>
            </a:srgbClr>
          </a:solidFill>
          <a:ln w="4763">
            <a:solidFill>
              <a:srgbClr val="20E3B2">
                <a:alpha val="20000"/>
              </a:srgbClr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6969621" y="3151510"/>
            <a:ext cx="73925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Response</a:t>
            </a:r>
            <a:endParaRPr lang="en-US" sz="860" dirty="0"/>
          </a:p>
        </p:txBody>
      </p:sp>
      <p:sp>
        <p:nvSpPr>
          <p:cNvPr id="47" name="Shape 40"/>
          <p:cNvSpPr/>
          <p:nvPr/>
        </p:nvSpPr>
        <p:spPr>
          <a:xfrm>
            <a:off x="5822268" y="3994138"/>
            <a:ext cx="2819400" cy="942975"/>
          </a:xfrm>
          <a:prstGeom prst="roundRect">
            <a:avLst>
              <a:gd name="adj" fmla="val 8081"/>
            </a:avLst>
          </a:prstGeom>
          <a:solidFill>
            <a:srgbClr val="20E3B2">
              <a:alpha val="6000"/>
            </a:srgbClr>
          </a:solidFill>
          <a:ln w="4763">
            <a:solidFill>
              <a:srgbClr val="20E3B2">
                <a:alpha val="25000"/>
              </a:srgbClr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010424" y="4110558"/>
            <a:ext cx="17087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790" b="1" spc="79" kern="0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REJECTION SAMPLING</a:t>
            </a:r>
            <a:endParaRPr lang="en-US" sz="790" dirty="0"/>
          </a:p>
        </p:txBody>
      </p:sp>
      <p:sp>
        <p:nvSpPr>
          <p:cNvPr id="49" name="Text 42"/>
          <p:cNvSpPr/>
          <p:nvPr/>
        </p:nvSpPr>
        <p:spPr>
          <a:xfrm>
            <a:off x="6010424" y="4317653"/>
            <a:ext cx="3028370" cy="489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3"/>
              </a:lnSpc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Aborting when z leaks information about s₁ is</a:t>
            </a:r>
            <a:endParaRPr lang="en-US" sz="860" dirty="0"/>
          </a:p>
          <a:p>
            <a:pPr algn="l" indent="0" marL="0">
              <a:lnSpc>
                <a:spcPts val="1383"/>
              </a:lnSpc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makes the scheme secure — the secret</a:t>
            </a:r>
            <a:endParaRPr lang="en-US" sz="860" dirty="0"/>
          </a:p>
          <a:p>
            <a:pPr algn="l" indent="0" marL="0">
              <a:lnSpc>
                <a:spcPts val="1383"/>
              </a:lnSpc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remains hidden even after many signatures.</a:t>
            </a:r>
            <a:endParaRPr lang="en-US" sz="860" dirty="0"/>
          </a:p>
        </p:txBody>
      </p:sp>
      <p:sp>
        <p:nvSpPr>
          <p:cNvPr id="50" name="Text 43"/>
          <p:cNvSpPr/>
          <p:nvPr/>
        </p:nvSpPr>
        <p:spPr>
          <a:xfrm>
            <a:off x="8305577" y="4895850"/>
            <a:ext cx="49334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 / 20</a:t>
            </a:r>
            <a:endParaRPr lang="en-US" sz="8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3820" y="304465"/>
            <a:ext cx="409575" cy="409575"/>
          </a:xfrm>
          <a:prstGeom prst="roundRect">
            <a:avLst>
              <a:gd name="adj" fmla="val 13953"/>
            </a:avLst>
          </a:prstGeom>
          <a:solidFill>
            <a:srgbClr val="7C5CFF">
              <a:alpha val="10000"/>
            </a:srgbClr>
          </a:solidFill>
          <a:ln w="9525">
            <a:solidFill>
              <a:srgbClr val="7C5CFF">
                <a:alpha val="3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13916" y="435173"/>
            <a:ext cx="30325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DSA</a:t>
            </a:r>
            <a:endParaRPr lang="en-US" sz="830" dirty="0"/>
          </a:p>
        </p:txBody>
      </p:sp>
      <p:sp>
        <p:nvSpPr>
          <p:cNvPr id="7" name="Text 3"/>
          <p:cNvSpPr/>
          <p:nvPr/>
        </p:nvSpPr>
        <p:spPr>
          <a:xfrm>
            <a:off x="1051471" y="228600"/>
            <a:ext cx="3384560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ML-DSA in Practice</a:t>
            </a:r>
            <a:endParaRPr lang="en-US" sz="2230" dirty="0"/>
          </a:p>
        </p:txBody>
      </p:sp>
      <p:sp>
        <p:nvSpPr>
          <p:cNvPr id="8" name="Text 4"/>
          <p:cNvSpPr/>
          <p:nvPr/>
        </p:nvSpPr>
        <p:spPr>
          <a:xfrm>
            <a:off x="1051471" y="592634"/>
            <a:ext cx="55300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FIPS 204 — post-quantum digital signatures for authentication and integrity</a:t>
            </a:r>
            <a:endParaRPr lang="en-US" sz="940" dirty="0"/>
          </a:p>
        </p:txBody>
      </p:sp>
      <p:sp>
        <p:nvSpPr>
          <p:cNvPr id="9" name="Shape 5"/>
          <p:cNvSpPr/>
          <p:nvPr/>
        </p:nvSpPr>
        <p:spPr>
          <a:xfrm>
            <a:off x="502518" y="916595"/>
            <a:ext cx="4476750" cy="985838"/>
          </a:xfrm>
          <a:prstGeom prst="roundRect">
            <a:avLst>
              <a:gd name="adj" fmla="val 5797"/>
            </a:avLst>
          </a:prstGeom>
          <a:solidFill>
            <a:srgbClr val="7C5CFF">
              <a:alpha val="6000"/>
            </a:srgbClr>
          </a:solidFill>
          <a:ln w="4763">
            <a:solidFill>
              <a:srgbClr val="7C5CFF">
                <a:alpha val="2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798" y="1012106"/>
            <a:ext cx="204947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860" b="1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Post-Quantum Code Signing</a:t>
            </a:r>
            <a:endParaRPr lang="en-US" sz="860" dirty="0"/>
          </a:p>
        </p:txBody>
      </p:sp>
      <p:sp>
        <p:nvSpPr>
          <p:cNvPr id="11" name="Text 7"/>
          <p:cNvSpPr/>
          <p:nvPr/>
        </p:nvSpPr>
        <p:spPr>
          <a:xfrm>
            <a:off x="644798" y="1192485"/>
            <a:ext cx="222476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68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FIPS 204 · ML-DSA-65 / ML-DSA-87</a:t>
            </a:r>
            <a:endParaRPr lang="en-US" sz="680" dirty="0"/>
          </a:p>
        </p:txBody>
      </p:sp>
      <p:sp>
        <p:nvSpPr>
          <p:cNvPr id="12" name="Text 8"/>
          <p:cNvSpPr/>
          <p:nvPr/>
        </p:nvSpPr>
        <p:spPr>
          <a:xfrm>
            <a:off x="644798" y="1358280"/>
            <a:ext cx="5315940" cy="44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Firmware updates, OS package managers, and application bundles require signatures</a:t>
            </a:r>
            <a:endParaRPr lang="en-US" sz="790" dirty="0"/>
          </a:p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valid for 10–20 years. ML-DSA replaces ECDSA in signing pipelines where long-term</a:t>
            </a:r>
            <a:endParaRPr lang="en-US" sz="790" dirty="0"/>
          </a:p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integrity is required.</a:t>
            </a:r>
            <a:endParaRPr lang="en-US" sz="790" dirty="0"/>
          </a:p>
        </p:txBody>
      </p:sp>
      <p:sp>
        <p:nvSpPr>
          <p:cNvPr id="13" name="Shape 9"/>
          <p:cNvSpPr/>
          <p:nvPr/>
        </p:nvSpPr>
        <p:spPr>
          <a:xfrm>
            <a:off x="502518" y="1997013"/>
            <a:ext cx="4476750" cy="985838"/>
          </a:xfrm>
          <a:prstGeom prst="roundRect">
            <a:avLst>
              <a:gd name="adj" fmla="val 5797"/>
            </a:avLst>
          </a:prstGeom>
          <a:solidFill>
            <a:srgbClr val="7C5CFF">
              <a:alpha val="5000"/>
            </a:srgbClr>
          </a:solidFill>
          <a:ln w="4763">
            <a:solidFill>
              <a:srgbClr val="7C5CFF">
                <a:alpha val="22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798" y="2092523"/>
            <a:ext cx="223231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860" b="1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PKI Certificate Chain Signatures</a:t>
            </a:r>
            <a:endParaRPr lang="en-US" sz="860" dirty="0"/>
          </a:p>
        </p:txBody>
      </p:sp>
      <p:sp>
        <p:nvSpPr>
          <p:cNvPr id="15" name="Text 11"/>
          <p:cNvSpPr/>
          <p:nvPr/>
        </p:nvSpPr>
        <p:spPr>
          <a:xfrm>
            <a:off x="644798" y="2272903"/>
            <a:ext cx="459553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68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X.509 PQC extensions · IETF draft-ietf-lamps-dilithium-certificates</a:t>
            </a:r>
            <a:endParaRPr lang="en-US" sz="680" dirty="0"/>
          </a:p>
        </p:txBody>
      </p:sp>
      <p:sp>
        <p:nvSpPr>
          <p:cNvPr id="16" name="Text 12"/>
          <p:cNvSpPr/>
          <p:nvPr/>
        </p:nvSpPr>
        <p:spPr>
          <a:xfrm>
            <a:off x="644798" y="2438698"/>
            <a:ext cx="5451857" cy="44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Certificate Authorities can sign end-entity certificates with ML-DSA. Hybrid dual-signed</a:t>
            </a:r>
            <a:endParaRPr lang="en-US" sz="790" dirty="0"/>
          </a:p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certificates carry both ECDSA and ML-DSA signatures for backward compatibility during</a:t>
            </a:r>
            <a:endParaRPr lang="en-US" sz="790" dirty="0"/>
          </a:p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transition.</a:t>
            </a:r>
            <a:endParaRPr lang="en-US" sz="790" dirty="0"/>
          </a:p>
        </p:txBody>
      </p:sp>
      <p:sp>
        <p:nvSpPr>
          <p:cNvPr id="17" name="Shape 13"/>
          <p:cNvSpPr/>
          <p:nvPr/>
        </p:nvSpPr>
        <p:spPr>
          <a:xfrm>
            <a:off x="502518" y="3077431"/>
            <a:ext cx="4476750" cy="985838"/>
          </a:xfrm>
          <a:prstGeom prst="roundRect">
            <a:avLst>
              <a:gd name="adj" fmla="val 5797"/>
            </a:avLst>
          </a:prstGeom>
          <a:solidFill>
            <a:srgbClr val="7C5CFF">
              <a:alpha val="5000"/>
            </a:srgbClr>
          </a:solidFill>
          <a:ln w="4763">
            <a:solidFill>
              <a:srgbClr val="7C5CFF">
                <a:alpha val="22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4798" y="3172941"/>
            <a:ext cx="272441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860" b="1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Government Document Authentication</a:t>
            </a:r>
            <a:endParaRPr lang="en-US" sz="860" dirty="0"/>
          </a:p>
        </p:txBody>
      </p:sp>
      <p:sp>
        <p:nvSpPr>
          <p:cNvPr id="19" name="Text 15"/>
          <p:cNvSpPr/>
          <p:nvPr/>
        </p:nvSpPr>
        <p:spPr>
          <a:xfrm>
            <a:off x="644798" y="3353321"/>
            <a:ext cx="141197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68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NSA CNSA 2.0 mandate</a:t>
            </a:r>
            <a:endParaRPr lang="en-US" sz="680" dirty="0"/>
          </a:p>
        </p:txBody>
      </p:sp>
      <p:sp>
        <p:nvSpPr>
          <p:cNvPr id="20" name="Text 16"/>
          <p:cNvSpPr/>
          <p:nvPr/>
        </p:nvSpPr>
        <p:spPr>
          <a:xfrm>
            <a:off x="644798" y="3519115"/>
            <a:ext cx="5345929" cy="44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Legal instruments, identity documents, and archival records require cryptographic</a:t>
            </a:r>
            <a:endParaRPr lang="en-US" sz="790" dirty="0"/>
          </a:p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signatures that remain verifiable for decades. ML-DSA provides long-term authenticity</a:t>
            </a:r>
            <a:endParaRPr lang="en-US" sz="790" dirty="0"/>
          </a:p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against future adversaries.</a:t>
            </a:r>
            <a:endParaRPr lang="en-US" sz="790" dirty="0"/>
          </a:p>
        </p:txBody>
      </p:sp>
      <p:sp>
        <p:nvSpPr>
          <p:cNvPr id="21" name="Shape 17"/>
          <p:cNvSpPr/>
          <p:nvPr/>
        </p:nvSpPr>
        <p:spPr>
          <a:xfrm>
            <a:off x="502518" y="4157849"/>
            <a:ext cx="4476750" cy="985838"/>
          </a:xfrm>
          <a:prstGeom prst="roundRect">
            <a:avLst>
              <a:gd name="adj" fmla="val 5797"/>
            </a:avLst>
          </a:prstGeom>
          <a:solidFill>
            <a:srgbClr val="7C5CFF">
              <a:alpha val="5000"/>
            </a:srgbClr>
          </a:solidFill>
          <a:ln w="4763">
            <a:solidFill>
              <a:srgbClr val="7C5CFF">
                <a:alpha val="22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798" y="4253359"/>
            <a:ext cx="2164593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860" b="1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Post-Quantum SSH &amp; TLS Auth</a:t>
            </a:r>
            <a:endParaRPr lang="en-US" sz="860" dirty="0"/>
          </a:p>
        </p:txBody>
      </p:sp>
      <p:sp>
        <p:nvSpPr>
          <p:cNvPr id="23" name="Text 19"/>
          <p:cNvSpPr/>
          <p:nvPr/>
        </p:nvSpPr>
        <p:spPr>
          <a:xfrm>
            <a:off x="644798" y="4433739"/>
            <a:ext cx="20893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68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IETF draft-ietf-tls-sig-scheme</a:t>
            </a:r>
            <a:endParaRPr lang="en-US" sz="680" dirty="0"/>
          </a:p>
        </p:txBody>
      </p:sp>
      <p:sp>
        <p:nvSpPr>
          <p:cNvPr id="24" name="Text 20"/>
          <p:cNvSpPr/>
          <p:nvPr/>
        </p:nvSpPr>
        <p:spPr>
          <a:xfrm>
            <a:off x="644798" y="4599533"/>
            <a:ext cx="5504096" cy="44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TLS certificate signatures and SSH host key signatures can be replaced with ML-DSA. This</a:t>
            </a:r>
            <a:endParaRPr lang="en-US" sz="790" dirty="0"/>
          </a:p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closes the signature half of the quantum threat — complementing ML-KEM for key</a:t>
            </a:r>
            <a:endParaRPr lang="en-US" sz="790" dirty="0"/>
          </a:p>
          <a:p>
            <a:pPr algn="l" indent="0" marL="0">
              <a:lnSpc>
                <a:spcPts val="1228"/>
              </a:lnSpc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exchange.</a:t>
            </a:r>
            <a:endParaRPr lang="en-US" sz="790" dirty="0"/>
          </a:p>
        </p:txBody>
      </p:sp>
      <p:sp>
        <p:nvSpPr>
          <p:cNvPr id="25" name="Shape 21"/>
          <p:cNvSpPr/>
          <p:nvPr/>
        </p:nvSpPr>
        <p:spPr>
          <a:xfrm>
            <a:off x="5207422" y="916186"/>
            <a:ext cx="3433762" cy="1724025"/>
          </a:xfrm>
          <a:prstGeom prst="roundRect">
            <a:avLst>
              <a:gd name="adj" fmla="val 4420"/>
            </a:avLst>
          </a:prstGeom>
          <a:solidFill>
            <a:srgbClr val="141938"/>
          </a:solidFill>
          <a:ln w="4763">
            <a:solidFill>
              <a:srgbClr val="7C5CFF">
                <a:alpha val="28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212184" y="920353"/>
            <a:ext cx="3424238" cy="14288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7" name="Text 23"/>
          <p:cNvSpPr/>
          <p:nvPr/>
        </p:nvSpPr>
        <p:spPr>
          <a:xfrm>
            <a:off x="5395094" y="1058466"/>
            <a:ext cx="188772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790" b="1" spc="95" kern="0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FACTS: ML-DSA-65</a:t>
            </a:r>
            <a:endParaRPr lang="en-US" sz="790" dirty="0"/>
          </a:p>
        </p:txBody>
      </p:sp>
      <p:sp>
        <p:nvSpPr>
          <p:cNvPr id="28" name="Text 24"/>
          <p:cNvSpPr/>
          <p:nvPr/>
        </p:nvSpPr>
        <p:spPr>
          <a:xfrm>
            <a:off x="5395094" y="1286470"/>
            <a:ext cx="68449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 key</a:t>
            </a:r>
            <a:endParaRPr lang="en-US" sz="790" dirty="0"/>
          </a:p>
        </p:txBody>
      </p:sp>
      <p:sp>
        <p:nvSpPr>
          <p:cNvPr id="29" name="Text 25"/>
          <p:cNvSpPr/>
          <p:nvPr/>
        </p:nvSpPr>
        <p:spPr>
          <a:xfrm>
            <a:off x="7789962" y="1281708"/>
            <a:ext cx="9197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1,952 bytes</a:t>
            </a:r>
            <a:endParaRPr lang="en-US" sz="790" dirty="0"/>
          </a:p>
        </p:txBody>
      </p:sp>
      <p:sp>
        <p:nvSpPr>
          <p:cNvPr id="30" name="Text 26"/>
          <p:cNvSpPr/>
          <p:nvPr/>
        </p:nvSpPr>
        <p:spPr>
          <a:xfrm>
            <a:off x="5395094" y="1544910"/>
            <a:ext cx="72512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Private key</a:t>
            </a:r>
            <a:endParaRPr lang="en-US" sz="790" dirty="0"/>
          </a:p>
        </p:txBody>
      </p:sp>
      <p:sp>
        <p:nvSpPr>
          <p:cNvPr id="31" name="Text 27"/>
          <p:cNvSpPr/>
          <p:nvPr/>
        </p:nvSpPr>
        <p:spPr>
          <a:xfrm>
            <a:off x="7789962" y="1540148"/>
            <a:ext cx="9197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4,032 bytes</a:t>
            </a:r>
            <a:endParaRPr lang="en-US" sz="790" dirty="0"/>
          </a:p>
        </p:txBody>
      </p:sp>
      <p:sp>
        <p:nvSpPr>
          <p:cNvPr id="32" name="Text 28"/>
          <p:cNvSpPr/>
          <p:nvPr/>
        </p:nvSpPr>
        <p:spPr>
          <a:xfrm>
            <a:off x="5395094" y="1803350"/>
            <a:ext cx="65654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Signature</a:t>
            </a:r>
            <a:endParaRPr lang="en-US" sz="790" dirty="0"/>
          </a:p>
        </p:txBody>
      </p:sp>
      <p:sp>
        <p:nvSpPr>
          <p:cNvPr id="33" name="Text 29"/>
          <p:cNvSpPr/>
          <p:nvPr/>
        </p:nvSpPr>
        <p:spPr>
          <a:xfrm>
            <a:off x="7789962" y="1798588"/>
            <a:ext cx="9197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3,293 bytes</a:t>
            </a:r>
            <a:endParaRPr lang="en-US" sz="790" dirty="0"/>
          </a:p>
        </p:txBody>
      </p:sp>
      <p:sp>
        <p:nvSpPr>
          <p:cNvPr id="34" name="Text 30"/>
          <p:cNvSpPr/>
          <p:nvPr/>
        </p:nvSpPr>
        <p:spPr>
          <a:xfrm>
            <a:off x="5395094" y="2061790"/>
            <a:ext cx="87797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Security level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7729612" y="2057028"/>
            <a:ext cx="99822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NIST Level 3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5395094" y="2320230"/>
            <a:ext cx="63390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Standard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7548711" y="2315468"/>
            <a:ext cx="123339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FIPS 204 (2024)</a:t>
            </a:r>
            <a:endParaRPr lang="en-US" sz="790" dirty="0"/>
          </a:p>
        </p:txBody>
      </p:sp>
      <p:sp>
        <p:nvSpPr>
          <p:cNvPr id="38" name="Shape 34"/>
          <p:cNvSpPr/>
          <p:nvPr/>
        </p:nvSpPr>
        <p:spPr>
          <a:xfrm>
            <a:off x="5207422" y="2742977"/>
            <a:ext cx="3433762" cy="2195513"/>
          </a:xfrm>
          <a:prstGeom prst="roundRect">
            <a:avLst>
              <a:gd name="adj" fmla="val 3471"/>
            </a:avLst>
          </a:prstGeom>
          <a:solidFill>
            <a:srgbClr val="7C5CFF">
              <a:alpha val="7000"/>
            </a:srgbClr>
          </a:solidFill>
          <a:ln w="4763">
            <a:solidFill>
              <a:srgbClr val="7C5CFF">
                <a:alpha val="22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395094" y="2886521"/>
            <a:ext cx="243691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86"/>
              </a:spcAft>
              <a:buNone/>
            </a:pPr>
            <a:r>
              <a:rPr lang="en-US" sz="790" b="1" spc="95" kern="0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HYBRID TRANSITION STRATEGY</a:t>
            </a:r>
            <a:endParaRPr lang="en-US" sz="790" dirty="0"/>
          </a:p>
        </p:txBody>
      </p:sp>
      <p:sp>
        <p:nvSpPr>
          <p:cNvPr id="40" name="Shape 36"/>
          <p:cNvSpPr/>
          <p:nvPr/>
        </p:nvSpPr>
        <p:spPr>
          <a:xfrm>
            <a:off x="5394424" y="3127474"/>
            <a:ext cx="33337" cy="33337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1" name="Text 37"/>
          <p:cNvSpPr/>
          <p:nvPr/>
        </p:nvSpPr>
        <p:spPr>
          <a:xfrm>
            <a:off x="5500241" y="3099122"/>
            <a:ext cx="3014536" cy="291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Dual-sign with ECDSA + ML-DSA for backward</a:t>
            </a:r>
            <a:endParaRPr lang="en-US" sz="83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compatibility</a:t>
            </a:r>
            <a:endParaRPr lang="en-US" sz="830" dirty="0"/>
          </a:p>
        </p:txBody>
      </p:sp>
      <p:sp>
        <p:nvSpPr>
          <p:cNvPr id="42" name="Shape 38"/>
          <p:cNvSpPr/>
          <p:nvPr/>
        </p:nvSpPr>
        <p:spPr>
          <a:xfrm>
            <a:off x="5394424" y="3494261"/>
            <a:ext cx="33337" cy="33337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3" name="Text 39"/>
          <p:cNvSpPr/>
          <p:nvPr/>
        </p:nvSpPr>
        <p:spPr>
          <a:xfrm>
            <a:off x="5500241" y="3465909"/>
            <a:ext cx="3383399" cy="291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Relying parties that understand ML-DSA validate PQ</a:t>
            </a:r>
            <a:endParaRPr lang="en-US" sz="83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signature</a:t>
            </a:r>
            <a:endParaRPr lang="en-US" sz="830" dirty="0"/>
          </a:p>
        </p:txBody>
      </p:sp>
      <p:sp>
        <p:nvSpPr>
          <p:cNvPr id="44" name="Shape 40"/>
          <p:cNvSpPr/>
          <p:nvPr/>
        </p:nvSpPr>
        <p:spPr>
          <a:xfrm>
            <a:off x="5394424" y="3861048"/>
            <a:ext cx="33337" cy="33337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5" name="Text 41"/>
          <p:cNvSpPr/>
          <p:nvPr/>
        </p:nvSpPr>
        <p:spPr>
          <a:xfrm>
            <a:off x="5500241" y="3832696"/>
            <a:ext cx="332206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Legacy verifiers fall back to the ECDSA component</a:t>
            </a:r>
            <a:endParaRPr lang="en-US" sz="830" dirty="0"/>
          </a:p>
        </p:txBody>
      </p:sp>
      <p:sp>
        <p:nvSpPr>
          <p:cNvPr id="46" name="Shape 42"/>
          <p:cNvSpPr/>
          <p:nvPr/>
        </p:nvSpPr>
        <p:spPr>
          <a:xfrm>
            <a:off x="5394424" y="4070152"/>
            <a:ext cx="33337" cy="33337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7" name="Text 43"/>
          <p:cNvSpPr/>
          <p:nvPr/>
        </p:nvSpPr>
        <p:spPr>
          <a:xfrm>
            <a:off x="5500241" y="4041800"/>
            <a:ext cx="335312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security regression during the migration window</a:t>
            </a:r>
            <a:endParaRPr lang="en-US" sz="830" dirty="0"/>
          </a:p>
        </p:txBody>
      </p:sp>
      <p:sp>
        <p:nvSpPr>
          <p:cNvPr id="48" name="Text 44"/>
          <p:cNvSpPr/>
          <p:nvPr/>
        </p:nvSpPr>
        <p:spPr>
          <a:xfrm>
            <a:off x="8310339" y="4895850"/>
            <a:ext cx="48715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 / 20</a:t>
            </a:r>
            <a:endParaRPr lang="en-US" sz="860" dirty="0"/>
          </a:p>
        </p:txBody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5540" y="1277689"/>
            <a:ext cx="3057525" cy="195263"/>
          </a:xfrm>
          <a:prstGeom prst="rect">
            <a:avLst/>
          </a:prstGeom>
        </p:spPr>
      </p:pic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5540" y="1536129"/>
            <a:ext cx="3057525" cy="195263"/>
          </a:xfrm>
          <a:prstGeom prst="rect">
            <a:avLst/>
          </a:prstGeom>
        </p:spPr>
      </p:pic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5540" y="1794570"/>
            <a:ext cx="3057525" cy="195263"/>
          </a:xfrm>
          <a:prstGeom prst="rect">
            <a:avLst/>
          </a:prstGeom>
        </p:spPr>
      </p:pic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95540" y="2053010"/>
            <a:ext cx="3057525" cy="195263"/>
          </a:xfrm>
          <a:prstGeom prst="rect">
            <a:avLst/>
          </a:prstGeom>
        </p:spPr>
      </p:pic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95540" y="2311450"/>
            <a:ext cx="3057525" cy="1952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890" y="202853"/>
            <a:ext cx="3835554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AES &amp; SHA in Practice</a:t>
            </a:r>
            <a:endParaRPr lang="en-US" sz="2230" dirty="0"/>
          </a:p>
        </p:txBody>
      </p:sp>
      <p:sp>
        <p:nvSpPr>
          <p:cNvPr id="6" name="Text 2"/>
          <p:cNvSpPr/>
          <p:nvPr/>
        </p:nvSpPr>
        <p:spPr>
          <a:xfrm>
            <a:off x="502890" y="592187"/>
            <a:ext cx="600684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90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workhorses of every secure system — and why they survive the quantum transition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501923" y="876970"/>
            <a:ext cx="276225" cy="276225"/>
          </a:xfrm>
          <a:prstGeom prst="roundRect">
            <a:avLst>
              <a:gd name="adj" fmla="val 13793"/>
            </a:avLst>
          </a:prstGeom>
          <a:solidFill>
            <a:srgbClr val="00C2FF">
              <a:alpha val="10000"/>
            </a:srgbClr>
          </a:solidFill>
          <a:ln w="9525">
            <a:solidFill>
              <a:srgbClr val="00C2FF">
                <a:alpha val="35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7733" y="951235"/>
            <a:ext cx="27103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AES</a:t>
            </a:r>
            <a:endParaRPr lang="en-US" sz="720" dirty="0"/>
          </a:p>
        </p:txBody>
      </p:sp>
      <p:sp>
        <p:nvSpPr>
          <p:cNvPr id="9" name="Text 5"/>
          <p:cNvSpPr/>
          <p:nvPr/>
        </p:nvSpPr>
        <p:spPr>
          <a:xfrm>
            <a:off x="859408" y="901154"/>
            <a:ext cx="313042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Advanced Encryption Standard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667" y="1234343"/>
            <a:ext cx="3838575" cy="957263"/>
          </a:xfrm>
          <a:prstGeom prst="roundRect">
            <a:avLst>
              <a:gd name="adj" fmla="val 5970"/>
            </a:avLst>
          </a:prstGeom>
          <a:solidFill>
            <a:srgbClr val="00C2FF">
              <a:alpha val="5000"/>
            </a:srgbClr>
          </a:solidFill>
          <a:ln w="4763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5645" y="1325835"/>
            <a:ext cx="139291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830" b="1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TLS 1.3 Record Layer</a:t>
            </a:r>
            <a:endParaRPr lang="en-US" sz="830" dirty="0"/>
          </a:p>
        </p:txBody>
      </p:sp>
      <p:sp>
        <p:nvSpPr>
          <p:cNvPr id="12" name="Text 8"/>
          <p:cNvSpPr/>
          <p:nvPr/>
        </p:nvSpPr>
        <p:spPr>
          <a:xfrm>
            <a:off x="635645" y="1499295"/>
            <a:ext cx="72377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61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AES-256-GCM</a:t>
            </a:r>
            <a:endParaRPr lang="en-US" sz="610" dirty="0"/>
          </a:p>
        </p:txBody>
      </p:sp>
      <p:sp>
        <p:nvSpPr>
          <p:cNvPr id="13" name="Text 9"/>
          <p:cNvSpPr/>
          <p:nvPr/>
        </p:nvSpPr>
        <p:spPr>
          <a:xfrm>
            <a:off x="635645" y="1656159"/>
            <a:ext cx="4226763" cy="2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HTTPS payload byte is encrypted with AES-GCM — authenticated</a:t>
            </a:r>
            <a:endParaRPr lang="en-US" sz="760" dirty="0"/>
          </a:p>
          <a:p>
            <a:pPr algn="l" indent="0" marL="0">
              <a:lnSpc>
                <a:spcPts val="1171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encryption providing confidentiality and integrity in a single pass.</a:t>
            </a:r>
            <a:endParaRPr lang="en-US" sz="760" dirty="0"/>
          </a:p>
        </p:txBody>
      </p:sp>
      <p:sp>
        <p:nvSpPr>
          <p:cNvPr id="14" name="Shape 10"/>
          <p:cNvSpPr/>
          <p:nvPr/>
        </p:nvSpPr>
        <p:spPr>
          <a:xfrm>
            <a:off x="502667" y="2263341"/>
            <a:ext cx="3838575" cy="957263"/>
          </a:xfrm>
          <a:prstGeom prst="roundRect">
            <a:avLst>
              <a:gd name="adj" fmla="val 5970"/>
            </a:avLst>
          </a:prstGeom>
          <a:solidFill>
            <a:srgbClr val="00C2FF">
              <a:alpha val="5000"/>
            </a:srgbClr>
          </a:solidFill>
          <a:ln w="4763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5645" y="2354833"/>
            <a:ext cx="177125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830" b="1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Full-Disk &amp; File Encryption</a:t>
            </a:r>
            <a:endParaRPr lang="en-US" sz="830" dirty="0"/>
          </a:p>
        </p:txBody>
      </p:sp>
      <p:sp>
        <p:nvSpPr>
          <p:cNvPr id="16" name="Text 12"/>
          <p:cNvSpPr/>
          <p:nvPr/>
        </p:nvSpPr>
        <p:spPr>
          <a:xfrm>
            <a:off x="635645" y="2528292"/>
            <a:ext cx="260223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61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AES-256-XTS · BitLocker · LUKS · FileVault</a:t>
            </a:r>
            <a:endParaRPr lang="en-US" sz="610" dirty="0"/>
          </a:p>
        </p:txBody>
      </p:sp>
      <p:sp>
        <p:nvSpPr>
          <p:cNvPr id="17" name="Text 13"/>
          <p:cNvSpPr/>
          <p:nvPr/>
        </p:nvSpPr>
        <p:spPr>
          <a:xfrm>
            <a:off x="635645" y="2685157"/>
            <a:ext cx="4341205" cy="2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Linux LUKS, Windows BitLocker, and macOS FileVault all use AES-XTS.</a:t>
            </a:r>
            <a:endParaRPr lang="en-US" sz="760" dirty="0"/>
          </a:p>
          <a:p>
            <a:pPr algn="l" indent="0" marL="0">
              <a:lnSpc>
                <a:spcPts val="1171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HashiCorp Vault and age use AES-256 for secrets and archive encryption.</a:t>
            </a:r>
            <a:endParaRPr lang="en-US" sz="760" dirty="0"/>
          </a:p>
        </p:txBody>
      </p:sp>
      <p:sp>
        <p:nvSpPr>
          <p:cNvPr id="18" name="Shape 14"/>
          <p:cNvSpPr/>
          <p:nvPr/>
        </p:nvSpPr>
        <p:spPr>
          <a:xfrm>
            <a:off x="502667" y="3292339"/>
            <a:ext cx="3838575" cy="957263"/>
          </a:xfrm>
          <a:prstGeom prst="roundRect">
            <a:avLst>
              <a:gd name="adj" fmla="val 5970"/>
            </a:avLst>
          </a:prstGeom>
          <a:solidFill>
            <a:srgbClr val="00C2FF">
              <a:alpha val="5000"/>
            </a:srgbClr>
          </a:solidFill>
          <a:ln w="4763">
            <a:solidFill>
              <a:srgbClr val="00C2FF">
                <a:alpha val="2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5645" y="3383831"/>
            <a:ext cx="168274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830" b="1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VPN &amp; Wireless Payloads</a:t>
            </a:r>
            <a:endParaRPr lang="en-US" sz="830" dirty="0"/>
          </a:p>
        </p:txBody>
      </p:sp>
      <p:sp>
        <p:nvSpPr>
          <p:cNvPr id="20" name="Text 16"/>
          <p:cNvSpPr/>
          <p:nvPr/>
        </p:nvSpPr>
        <p:spPr>
          <a:xfrm>
            <a:off x="635645" y="3557290"/>
            <a:ext cx="211748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61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AES-256-CBC/GCM · IPsec ESP · WPA3</a:t>
            </a:r>
            <a:endParaRPr lang="en-US" sz="610" dirty="0"/>
          </a:p>
        </p:txBody>
      </p:sp>
      <p:sp>
        <p:nvSpPr>
          <p:cNvPr id="21" name="Text 17"/>
          <p:cNvSpPr/>
          <p:nvPr/>
        </p:nvSpPr>
        <p:spPr>
          <a:xfrm>
            <a:off x="635645" y="3714155"/>
            <a:ext cx="4249207" cy="2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IPsec ESP, OpenVPN, and WireGuard encrypt tunnelled traffic with AES.</a:t>
            </a:r>
            <a:endParaRPr lang="en-US" sz="760" dirty="0"/>
          </a:p>
          <a:p>
            <a:pPr algn="l" indent="0" marL="0">
              <a:lnSpc>
                <a:spcPts val="1171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WPA3-Enterprise mandates AES-256-GCMP for Wi-Fi payload protection.</a:t>
            </a:r>
            <a:endParaRPr lang="en-US" sz="760" dirty="0"/>
          </a:p>
        </p:txBody>
      </p:sp>
      <p:sp>
        <p:nvSpPr>
          <p:cNvPr id="22" name="Shape 18"/>
          <p:cNvSpPr/>
          <p:nvPr/>
        </p:nvSpPr>
        <p:spPr>
          <a:xfrm>
            <a:off x="4569619" y="877825"/>
            <a:ext cx="4763" cy="33718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4802014" y="876970"/>
            <a:ext cx="276225" cy="276225"/>
          </a:xfrm>
          <a:prstGeom prst="roundRect">
            <a:avLst>
              <a:gd name="adj" fmla="val 13793"/>
            </a:avLst>
          </a:prstGeom>
          <a:solidFill>
            <a:srgbClr val="7C5CFF">
              <a:alpha val="10000"/>
            </a:srgbClr>
          </a:solidFill>
          <a:ln w="9525">
            <a:solidFill>
              <a:srgbClr val="7C5CFF">
                <a:alpha val="3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57824" y="951235"/>
            <a:ext cx="27103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</a:t>
            </a:r>
            <a:endParaRPr lang="en-US" sz="720" dirty="0"/>
          </a:p>
        </p:txBody>
      </p:sp>
      <p:sp>
        <p:nvSpPr>
          <p:cNvPr id="25" name="Text 21"/>
          <p:cNvSpPr/>
          <p:nvPr/>
        </p:nvSpPr>
        <p:spPr>
          <a:xfrm>
            <a:off x="5159499" y="901154"/>
            <a:ext cx="24409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5C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Secure Hash Algorithms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802758" y="1234343"/>
            <a:ext cx="3838575" cy="957263"/>
          </a:xfrm>
          <a:prstGeom prst="roundRect">
            <a:avLst>
              <a:gd name="adj" fmla="val 5970"/>
            </a:avLst>
          </a:prstGeom>
          <a:solidFill>
            <a:srgbClr val="7C5CFF">
              <a:alpha val="5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935736" y="1325835"/>
            <a:ext cx="170798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830" b="1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X.509 Certificate Signing</a:t>
            </a:r>
            <a:endParaRPr lang="en-US" sz="830" dirty="0"/>
          </a:p>
        </p:txBody>
      </p:sp>
      <p:sp>
        <p:nvSpPr>
          <p:cNvPr id="28" name="Text 24"/>
          <p:cNvSpPr/>
          <p:nvPr/>
        </p:nvSpPr>
        <p:spPr>
          <a:xfrm>
            <a:off x="4935736" y="1499295"/>
            <a:ext cx="108731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61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SHA-256 / SHA-384</a:t>
            </a:r>
            <a:endParaRPr lang="en-US" sz="610" dirty="0"/>
          </a:p>
        </p:txBody>
      </p:sp>
      <p:sp>
        <p:nvSpPr>
          <p:cNvPr id="29" name="Text 25"/>
          <p:cNvSpPr/>
          <p:nvPr/>
        </p:nvSpPr>
        <p:spPr>
          <a:xfrm>
            <a:off x="4935736" y="1656159"/>
            <a:ext cx="4353200" cy="416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 sign certificates over a SHA-256 or SHA-384 digest. Certificate</a:t>
            </a:r>
            <a:endParaRPr lang="en-US" sz="760" dirty="0"/>
          </a:p>
          <a:p>
            <a:pPr algn="l" indent="0" marL="0">
              <a:lnSpc>
                <a:spcPts val="1171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transparency logs, HPKP pins, and trust-store fingerprints are all SHA-256</a:t>
            </a:r>
            <a:endParaRPr lang="en-US" sz="760" dirty="0"/>
          </a:p>
          <a:p>
            <a:pPr algn="l" indent="0" marL="0">
              <a:lnSpc>
                <a:spcPts val="1171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hashes.</a:t>
            </a:r>
            <a:endParaRPr lang="en-US" sz="760" dirty="0"/>
          </a:p>
        </p:txBody>
      </p:sp>
      <p:sp>
        <p:nvSpPr>
          <p:cNvPr id="30" name="Shape 26"/>
          <p:cNvSpPr/>
          <p:nvPr/>
        </p:nvSpPr>
        <p:spPr>
          <a:xfrm>
            <a:off x="4802758" y="2263341"/>
            <a:ext cx="3838575" cy="957263"/>
          </a:xfrm>
          <a:prstGeom prst="roundRect">
            <a:avLst>
              <a:gd name="adj" fmla="val 5970"/>
            </a:avLst>
          </a:prstGeom>
          <a:solidFill>
            <a:srgbClr val="7C5CFF">
              <a:alpha val="5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935736" y="2354833"/>
            <a:ext cx="202006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830" b="1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HMAC, HKDF &amp; Key Derivation</a:t>
            </a:r>
            <a:endParaRPr lang="en-US" sz="830" dirty="0"/>
          </a:p>
        </p:txBody>
      </p:sp>
      <p:sp>
        <p:nvSpPr>
          <p:cNvPr id="32" name="Text 28"/>
          <p:cNvSpPr/>
          <p:nvPr/>
        </p:nvSpPr>
        <p:spPr>
          <a:xfrm>
            <a:off x="4935736" y="2528292"/>
            <a:ext cx="169328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61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HMAC-SHA256 · HKDF · PBKDF2</a:t>
            </a:r>
            <a:endParaRPr lang="en-US" sz="610" dirty="0"/>
          </a:p>
        </p:txBody>
      </p:sp>
      <p:sp>
        <p:nvSpPr>
          <p:cNvPr id="33" name="Text 29"/>
          <p:cNvSpPr/>
          <p:nvPr/>
        </p:nvSpPr>
        <p:spPr>
          <a:xfrm>
            <a:off x="4935736" y="2685157"/>
            <a:ext cx="4659377" cy="2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TLS PRF, Signal's HKDF key ratchet, PBKDF2 password hashing, and JWT HS256</a:t>
            </a:r>
            <a:endParaRPr lang="en-US" sz="760" dirty="0"/>
          </a:p>
          <a:p>
            <a:pPr algn="l" indent="0" marL="0">
              <a:lnSpc>
                <a:spcPts val="1171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MAC all rely on HMAC-SHA-256 as the core PRF primitive.</a:t>
            </a:r>
            <a:endParaRPr lang="en-US" sz="760" dirty="0"/>
          </a:p>
        </p:txBody>
      </p:sp>
      <p:sp>
        <p:nvSpPr>
          <p:cNvPr id="34" name="Shape 30"/>
          <p:cNvSpPr/>
          <p:nvPr/>
        </p:nvSpPr>
        <p:spPr>
          <a:xfrm>
            <a:off x="4802758" y="3292339"/>
            <a:ext cx="3838575" cy="957263"/>
          </a:xfrm>
          <a:prstGeom prst="roundRect">
            <a:avLst>
              <a:gd name="adj" fmla="val 5970"/>
            </a:avLst>
          </a:prstGeom>
          <a:solidFill>
            <a:srgbClr val="7C5CFF">
              <a:alpha val="5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35736" y="3383831"/>
            <a:ext cx="1867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"/>
              </a:spcAft>
              <a:buNone/>
            </a:pPr>
            <a:r>
              <a:rPr lang="en-US" sz="830" b="1" dirty="0">
                <a:solidFill>
                  <a:srgbClr val="7C5C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SHA-3 / Keccak Inside PQC</a:t>
            </a:r>
            <a:endParaRPr lang="en-US" sz="830" dirty="0"/>
          </a:p>
        </p:txBody>
      </p:sp>
      <p:sp>
        <p:nvSpPr>
          <p:cNvPr id="36" name="Text 32"/>
          <p:cNvSpPr/>
          <p:nvPr/>
        </p:nvSpPr>
        <p:spPr>
          <a:xfrm>
            <a:off x="4935736" y="3557290"/>
            <a:ext cx="223869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243"/>
              </a:spcAft>
              <a:buNone/>
            </a:pPr>
            <a:r>
              <a:rPr lang="en-US" sz="610" dirty="0">
                <a:solidFill>
                  <a:srgbClr val="92A0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SHAKE128 · SHAKE256 · Keccak-f[1600]</a:t>
            </a:r>
            <a:endParaRPr lang="en-US" sz="610" dirty="0"/>
          </a:p>
        </p:txBody>
      </p:sp>
      <p:sp>
        <p:nvSpPr>
          <p:cNvPr id="37" name="Text 33"/>
          <p:cNvSpPr/>
          <p:nvPr/>
        </p:nvSpPr>
        <p:spPr>
          <a:xfrm>
            <a:off x="4935736" y="3714155"/>
            <a:ext cx="4418305" cy="2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1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ML-KEM and ML-DSA use SHAKE128 and SHAKE256 internally for hashing,</a:t>
            </a:r>
            <a:endParaRPr lang="en-US" sz="760" dirty="0"/>
          </a:p>
          <a:p>
            <a:pPr algn="l" indent="0" marL="0">
              <a:lnSpc>
                <a:spcPts val="1171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rejection sampling, and PRF operations. SHA-3 is integral to FIPS 203/204.</a:t>
            </a:r>
            <a:endParaRPr lang="en-US" sz="760" dirty="0"/>
          </a:p>
        </p:txBody>
      </p:sp>
      <p:sp>
        <p:nvSpPr>
          <p:cNvPr id="38" name="Shape 34"/>
          <p:cNvSpPr/>
          <p:nvPr/>
        </p:nvSpPr>
        <p:spPr>
          <a:xfrm>
            <a:off x="502444" y="4352218"/>
            <a:ext cx="8139112" cy="585788"/>
          </a:xfrm>
          <a:prstGeom prst="roundRect">
            <a:avLst>
              <a:gd name="adj" fmla="val 9756"/>
            </a:avLst>
          </a:prstGeom>
          <a:solidFill>
            <a:srgbClr val="20E3B2">
              <a:alpha val="7000"/>
            </a:srgbClr>
          </a:solidFill>
          <a:ln w="4763">
            <a:solidFill>
              <a:srgbClr val="20E3B2">
                <a:alpha val="2800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89521" y="4621262"/>
            <a:ext cx="47625" cy="47625"/>
          </a:xfrm>
          <a:prstGeom prst="ellipse">
            <a:avLst/>
          </a:prstGeom>
          <a:solidFill>
            <a:srgbClr val="20E3B2"/>
          </a:solidFill>
          <a:ln/>
        </p:spPr>
      </p:sp>
      <p:sp>
        <p:nvSpPr>
          <p:cNvPr id="40" name="Text 36"/>
          <p:cNvSpPr/>
          <p:nvPr/>
        </p:nvSpPr>
        <p:spPr>
          <a:xfrm>
            <a:off x="809327" y="4579144"/>
            <a:ext cx="10886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Quantum Safety</a:t>
            </a:r>
            <a:endParaRPr lang="en-US" sz="790" dirty="0"/>
          </a:p>
        </p:txBody>
      </p:sp>
      <p:sp>
        <p:nvSpPr>
          <p:cNvPr id="41" name="Shape 37"/>
          <p:cNvSpPr/>
          <p:nvPr/>
        </p:nvSpPr>
        <p:spPr>
          <a:xfrm>
            <a:off x="1967359" y="4428418"/>
            <a:ext cx="4763" cy="433388"/>
          </a:xfrm>
          <a:prstGeom prst="rect">
            <a:avLst/>
          </a:prstGeom>
          <a:solidFill>
            <a:srgbClr val="20E3B2">
              <a:alpha val="30000"/>
            </a:srgbClr>
          </a:solidFill>
          <a:ln/>
        </p:spPr>
      </p:sp>
      <p:sp>
        <p:nvSpPr>
          <p:cNvPr id="42" name="Text 38"/>
          <p:cNvSpPr/>
          <p:nvPr/>
        </p:nvSpPr>
        <p:spPr>
          <a:xfrm>
            <a:off x="2336676" y="4438650"/>
            <a:ext cx="7507932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760" b="1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AES-256</a:t>
            </a:r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retains 128-bit post-quantum security — Grover's algorithm provides only a √N speedup, halving effective key length.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b="1" dirty="0">
                <a:solidFill>
                  <a:srgbClr val="20E3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SHA-384/512</a:t>
            </a:r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likewise maintain ample post-quantum collision resistance. Neither primitive requires replacement — only key-length</a:t>
            </a:r>
            <a:endParaRPr lang="en-US" sz="760" dirty="0"/>
          </a:p>
          <a:p>
            <a:pPr algn="l" indent="0" marL="0">
              <a:lnSpc>
                <a:spcPts val="1134"/>
              </a:lnSpc>
              <a:buNone/>
            </a:pPr>
            <a:r>
              <a:rPr lang="en-US" sz="7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discipline.</a:t>
            </a:r>
            <a:endParaRPr lang="en-US" sz="760" dirty="0"/>
          </a:p>
        </p:txBody>
      </p:sp>
      <p:sp>
        <p:nvSpPr>
          <p:cNvPr id="43" name="Text 39"/>
          <p:cNvSpPr/>
          <p:nvPr/>
        </p:nvSpPr>
        <p:spPr>
          <a:xfrm>
            <a:off x="8301038" y="4895850"/>
            <a:ext cx="49924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 / 20</a:t>
            </a:r>
            <a:endParaRPr lang="en-US" sz="8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890" y="202853"/>
            <a:ext cx="6967262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013"/>
              </a:spcAft>
              <a:buNone/>
            </a:pPr>
            <a:r>
              <a:rPr lang="en-US" sz="2230" b="1" spc="-22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the Benchmark Results Really Mean</a:t>
            </a:r>
            <a:endParaRPr lang="en-US" sz="2230" dirty="0"/>
          </a:p>
        </p:txBody>
      </p:sp>
      <p:sp>
        <p:nvSpPr>
          <p:cNvPr id="6" name="Shape 2"/>
          <p:cNvSpPr/>
          <p:nvPr/>
        </p:nvSpPr>
        <p:spPr>
          <a:xfrm>
            <a:off x="503858" y="686321"/>
            <a:ext cx="1895475" cy="700088"/>
          </a:xfrm>
          <a:prstGeom prst="roundRect">
            <a:avLst>
              <a:gd name="adj" fmla="val 8163"/>
            </a:avLst>
          </a:prstGeom>
          <a:solidFill>
            <a:srgbClr val="141938"/>
          </a:solidFill>
          <a:ln w="4763">
            <a:solidFill>
              <a:srgbClr val="FF5C5C">
                <a:alpha val="28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08620" y="690711"/>
            <a:ext cx="1885950" cy="14288"/>
          </a:xfrm>
          <a:prstGeom prst="rect">
            <a:avLst/>
          </a:prstGeom>
          <a:solidFill>
            <a:srgbClr val="FF5C5C"/>
          </a:solidFill>
          <a:ln/>
        </p:spPr>
      </p:sp>
      <p:sp>
        <p:nvSpPr>
          <p:cNvPr id="8" name="Text 4"/>
          <p:cNvSpPr/>
          <p:nvPr/>
        </p:nvSpPr>
        <p:spPr>
          <a:xfrm>
            <a:off x="644798" y="749945"/>
            <a:ext cx="11554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FF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24.7 ms</a:t>
            </a:r>
            <a:endParaRPr lang="en-US" sz="1580" dirty="0"/>
          </a:p>
        </p:txBody>
      </p:sp>
      <p:sp>
        <p:nvSpPr>
          <p:cNvPr id="9" name="Text 5"/>
          <p:cNvSpPr/>
          <p:nvPr/>
        </p:nvSpPr>
        <p:spPr>
          <a:xfrm>
            <a:off x="644798" y="1024756"/>
            <a:ext cx="116818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43"/>
              </a:spcBef>
              <a:buNone/>
            </a:pPr>
            <a:r>
              <a:rPr lang="en-US" sz="76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RSA-2048 keygen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644798" y="1168747"/>
            <a:ext cx="179679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Highest cost — prime generation</a:t>
            </a:r>
            <a:endParaRPr lang="en-US" sz="680" dirty="0"/>
          </a:p>
        </p:txBody>
      </p:sp>
      <p:sp>
        <p:nvSpPr>
          <p:cNvPr id="11" name="Shape 7"/>
          <p:cNvSpPr/>
          <p:nvPr/>
        </p:nvSpPr>
        <p:spPr>
          <a:xfrm>
            <a:off x="2584103" y="686321"/>
            <a:ext cx="1895475" cy="700088"/>
          </a:xfrm>
          <a:prstGeom prst="roundRect">
            <a:avLst>
              <a:gd name="adj" fmla="val 8163"/>
            </a:avLst>
          </a:prstGeom>
          <a:solidFill>
            <a:srgbClr val="141938"/>
          </a:solidFill>
          <a:ln w="4763">
            <a:solidFill>
              <a:srgbClr val="00C2FF">
                <a:alpha val="25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588865" y="690711"/>
            <a:ext cx="1885950" cy="1428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3" name="Text 9"/>
          <p:cNvSpPr/>
          <p:nvPr/>
        </p:nvSpPr>
        <p:spPr>
          <a:xfrm>
            <a:off x="2725043" y="749945"/>
            <a:ext cx="11554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2.23 ms</a:t>
            </a:r>
            <a:endParaRPr lang="en-US" sz="1580" dirty="0"/>
          </a:p>
        </p:txBody>
      </p:sp>
      <p:sp>
        <p:nvSpPr>
          <p:cNvPr id="14" name="Text 10"/>
          <p:cNvSpPr/>
          <p:nvPr/>
        </p:nvSpPr>
        <p:spPr>
          <a:xfrm>
            <a:off x="2725043" y="1024756"/>
            <a:ext cx="133467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43"/>
              </a:spcBef>
              <a:buNone/>
            </a:pPr>
            <a:r>
              <a:rPr lang="en-US" sz="76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ECDSA-P256 keygen</a:t>
            </a:r>
            <a:endParaRPr lang="en-US" sz="760" dirty="0"/>
          </a:p>
        </p:txBody>
      </p:sp>
      <p:sp>
        <p:nvSpPr>
          <p:cNvPr id="15" name="Text 11"/>
          <p:cNvSpPr/>
          <p:nvPr/>
        </p:nvSpPr>
        <p:spPr>
          <a:xfrm>
            <a:off x="2725043" y="1168747"/>
            <a:ext cx="1425126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10× faster than RSA-2048</a:t>
            </a:r>
            <a:endParaRPr lang="en-US" sz="680" dirty="0"/>
          </a:p>
        </p:txBody>
      </p:sp>
      <p:sp>
        <p:nvSpPr>
          <p:cNvPr id="16" name="Shape 12"/>
          <p:cNvSpPr/>
          <p:nvPr/>
        </p:nvSpPr>
        <p:spPr>
          <a:xfrm>
            <a:off x="4664348" y="686321"/>
            <a:ext cx="1895475" cy="700088"/>
          </a:xfrm>
          <a:prstGeom prst="roundRect">
            <a:avLst>
              <a:gd name="adj" fmla="val 8163"/>
            </a:avLst>
          </a:prstGeom>
          <a:solidFill>
            <a:srgbClr val="141938"/>
          </a:solidFill>
          <a:ln w="4763">
            <a:solidFill>
              <a:srgbClr val="20E3B2">
                <a:alpha val="2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69110" y="690711"/>
            <a:ext cx="1885950" cy="14288"/>
          </a:xfrm>
          <a:prstGeom prst="rect">
            <a:avLst/>
          </a:prstGeom>
          <a:solidFill>
            <a:srgbClr val="20E3B2"/>
          </a:solidFill>
          <a:ln/>
        </p:spPr>
      </p:sp>
      <p:sp>
        <p:nvSpPr>
          <p:cNvPr id="18" name="Text 14"/>
          <p:cNvSpPr/>
          <p:nvPr/>
        </p:nvSpPr>
        <p:spPr>
          <a:xfrm>
            <a:off x="4805288" y="749945"/>
            <a:ext cx="11554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9.21 ms</a:t>
            </a:r>
            <a:endParaRPr lang="en-US" sz="1580" dirty="0"/>
          </a:p>
        </p:txBody>
      </p:sp>
      <p:sp>
        <p:nvSpPr>
          <p:cNvPr id="19" name="Text 15"/>
          <p:cNvSpPr/>
          <p:nvPr/>
        </p:nvSpPr>
        <p:spPr>
          <a:xfrm>
            <a:off x="4805288" y="1024756"/>
            <a:ext cx="132819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43"/>
              </a:spcBef>
              <a:buNone/>
            </a:pPr>
            <a:r>
              <a:rPr lang="en-US" sz="76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ML-KEM-768 keygen</a:t>
            </a:r>
            <a:endParaRPr lang="en-US" sz="760" dirty="0"/>
          </a:p>
        </p:txBody>
      </p:sp>
      <p:sp>
        <p:nvSpPr>
          <p:cNvPr id="20" name="Text 16"/>
          <p:cNvSpPr/>
          <p:nvPr/>
        </p:nvSpPr>
        <p:spPr>
          <a:xfrm>
            <a:off x="4805288" y="1168747"/>
            <a:ext cx="1723080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Competitive with RSA, stronger</a:t>
            </a:r>
            <a:endParaRPr lang="en-US" sz="680" dirty="0"/>
          </a:p>
        </p:txBody>
      </p:sp>
      <p:sp>
        <p:nvSpPr>
          <p:cNvPr id="21" name="Shape 17"/>
          <p:cNvSpPr/>
          <p:nvPr/>
        </p:nvSpPr>
        <p:spPr>
          <a:xfrm>
            <a:off x="6744593" y="686321"/>
            <a:ext cx="1895475" cy="700088"/>
          </a:xfrm>
          <a:prstGeom prst="roundRect">
            <a:avLst>
              <a:gd name="adj" fmla="val 8163"/>
            </a:avLst>
          </a:prstGeom>
          <a:solidFill>
            <a:srgbClr val="141938"/>
          </a:solidFill>
          <a:ln w="4763">
            <a:solidFill>
              <a:srgbClr val="7C5CFF">
                <a:alpha val="25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49355" y="690711"/>
            <a:ext cx="1885950" cy="14288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3" name="Text 19"/>
          <p:cNvSpPr/>
          <p:nvPr/>
        </p:nvSpPr>
        <p:spPr>
          <a:xfrm>
            <a:off x="6885533" y="749945"/>
            <a:ext cx="11554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9.36 ms</a:t>
            </a:r>
            <a:endParaRPr lang="en-US" sz="1580" dirty="0"/>
          </a:p>
        </p:txBody>
      </p:sp>
      <p:sp>
        <p:nvSpPr>
          <p:cNvPr id="24" name="Text 20"/>
          <p:cNvSpPr/>
          <p:nvPr/>
        </p:nvSpPr>
        <p:spPr>
          <a:xfrm>
            <a:off x="6885533" y="1024756"/>
            <a:ext cx="125448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43"/>
              </a:spcBef>
              <a:buNone/>
            </a:pPr>
            <a:r>
              <a:rPr lang="en-US" sz="760" b="1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ML-DSA-65 keygen</a:t>
            </a:r>
            <a:endParaRPr lang="en-US" sz="760" dirty="0"/>
          </a:p>
        </p:txBody>
      </p:sp>
      <p:sp>
        <p:nvSpPr>
          <p:cNvPr id="25" name="Text 21"/>
          <p:cNvSpPr/>
          <p:nvPr/>
        </p:nvSpPr>
        <p:spPr>
          <a:xfrm>
            <a:off x="6885533" y="1168747"/>
            <a:ext cx="1221395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Signature: 3293 bytes</a:t>
            </a:r>
            <a:endParaRPr lang="en-US" sz="680" dirty="0"/>
          </a:p>
        </p:txBody>
      </p:sp>
      <p:sp>
        <p:nvSpPr>
          <p:cNvPr id="26" name="Shape 22"/>
          <p:cNvSpPr/>
          <p:nvPr/>
        </p:nvSpPr>
        <p:spPr>
          <a:xfrm>
            <a:off x="503858" y="1514847"/>
            <a:ext cx="3952875" cy="3014663"/>
          </a:xfrm>
          <a:prstGeom prst="roundRect">
            <a:avLst>
              <a:gd name="adj" fmla="val 2528"/>
            </a:avLst>
          </a:prstGeom>
          <a:solidFill>
            <a:srgbClr val="141938"/>
          </a:solidFill>
          <a:ln w="4763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90488" y="1658243"/>
            <a:ext cx="221944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830" b="1" spc="83" kern="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GENERATION TIME (MS)</a:t>
            </a:r>
            <a:endParaRPr lang="en-US" sz="830" dirty="0"/>
          </a:p>
        </p:txBody>
      </p:sp>
      <p:sp>
        <p:nvSpPr>
          <p:cNvPr id="28" name="Text 24"/>
          <p:cNvSpPr/>
          <p:nvPr/>
        </p:nvSpPr>
        <p:spPr>
          <a:xfrm>
            <a:off x="690488" y="2418011"/>
            <a:ext cx="72183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RSA-2048</a:t>
            </a:r>
            <a:endParaRPr lang="en-US" sz="790" dirty="0"/>
          </a:p>
        </p:txBody>
      </p:sp>
      <p:sp>
        <p:nvSpPr>
          <p:cNvPr id="29" name="Text 25"/>
          <p:cNvSpPr/>
          <p:nvPr/>
        </p:nvSpPr>
        <p:spPr>
          <a:xfrm>
            <a:off x="3787527" y="2413248"/>
            <a:ext cx="6844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FF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24.70 ms</a:t>
            </a:r>
            <a:endParaRPr lang="en-US" sz="790" dirty="0"/>
          </a:p>
        </p:txBody>
      </p:sp>
      <p:sp>
        <p:nvSpPr>
          <p:cNvPr id="30" name="Shape 26"/>
          <p:cNvSpPr/>
          <p:nvPr/>
        </p:nvSpPr>
        <p:spPr>
          <a:xfrm>
            <a:off x="689595" y="2589609"/>
            <a:ext cx="358140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95" y="2589609"/>
            <a:ext cx="3581400" cy="1143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90488" y="2815679"/>
            <a:ext cx="89790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ECDSA-P256</a:t>
            </a:r>
            <a:endParaRPr lang="en-US" sz="790" dirty="0"/>
          </a:p>
        </p:txBody>
      </p:sp>
      <p:sp>
        <p:nvSpPr>
          <p:cNvPr id="33" name="Text 28"/>
          <p:cNvSpPr/>
          <p:nvPr/>
        </p:nvSpPr>
        <p:spPr>
          <a:xfrm>
            <a:off x="3847802" y="2810917"/>
            <a:ext cx="60614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2.23 ms</a:t>
            </a:r>
            <a:endParaRPr lang="en-US" sz="790" dirty="0"/>
          </a:p>
        </p:txBody>
      </p:sp>
      <p:sp>
        <p:nvSpPr>
          <p:cNvPr id="34" name="Shape 29"/>
          <p:cNvSpPr/>
          <p:nvPr/>
        </p:nvSpPr>
        <p:spPr>
          <a:xfrm>
            <a:off x="689595" y="2987278"/>
            <a:ext cx="358140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32" y="2987278"/>
            <a:ext cx="323850" cy="1143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0488" y="3213348"/>
            <a:ext cx="8809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ML-KEM-768</a:t>
            </a:r>
            <a:endParaRPr lang="en-US" sz="790" dirty="0"/>
          </a:p>
        </p:txBody>
      </p:sp>
      <p:sp>
        <p:nvSpPr>
          <p:cNvPr id="37" name="Text 31"/>
          <p:cNvSpPr/>
          <p:nvPr/>
        </p:nvSpPr>
        <p:spPr>
          <a:xfrm>
            <a:off x="3847802" y="3208586"/>
            <a:ext cx="60614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9.21 ms</a:t>
            </a:r>
            <a:endParaRPr lang="en-US" sz="790" dirty="0"/>
          </a:p>
        </p:txBody>
      </p:sp>
      <p:sp>
        <p:nvSpPr>
          <p:cNvPr id="38" name="Shape 32"/>
          <p:cNvSpPr/>
          <p:nvPr/>
        </p:nvSpPr>
        <p:spPr>
          <a:xfrm>
            <a:off x="689595" y="3384947"/>
            <a:ext cx="358140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307" y="3384947"/>
            <a:ext cx="1333500" cy="11430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90488" y="3611017"/>
            <a:ext cx="8055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ML-DSA-65</a:t>
            </a:r>
            <a:endParaRPr lang="en-US" sz="790" dirty="0"/>
          </a:p>
        </p:txBody>
      </p:sp>
      <p:sp>
        <p:nvSpPr>
          <p:cNvPr id="41" name="Text 34"/>
          <p:cNvSpPr/>
          <p:nvPr/>
        </p:nvSpPr>
        <p:spPr>
          <a:xfrm>
            <a:off x="3847802" y="3606254"/>
            <a:ext cx="60614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9.36 ms</a:t>
            </a:r>
            <a:endParaRPr lang="en-US" sz="790" dirty="0"/>
          </a:p>
        </p:txBody>
      </p:sp>
      <p:sp>
        <p:nvSpPr>
          <p:cNvPr id="42" name="Shape 35"/>
          <p:cNvSpPr/>
          <p:nvPr/>
        </p:nvSpPr>
        <p:spPr>
          <a:xfrm>
            <a:off x="689595" y="3782616"/>
            <a:ext cx="358140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153" y="3782616"/>
            <a:ext cx="1357313" cy="114300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4687267" y="1514847"/>
            <a:ext cx="3952875" cy="3014663"/>
          </a:xfrm>
          <a:prstGeom prst="roundRect">
            <a:avLst>
              <a:gd name="adj" fmla="val 2528"/>
            </a:avLst>
          </a:prstGeom>
          <a:solidFill>
            <a:srgbClr val="141938"/>
          </a:solidFill>
          <a:ln w="4763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4873898" y="1658243"/>
            <a:ext cx="200652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830" b="1" spc="83" kern="0" dirty="0">
                <a:solidFill>
                  <a:srgbClr val="92A0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 KEY SIZE (BYTES)</a:t>
            </a:r>
            <a:endParaRPr lang="en-US" sz="830" dirty="0"/>
          </a:p>
        </p:txBody>
      </p:sp>
      <p:sp>
        <p:nvSpPr>
          <p:cNvPr id="46" name="Text 38"/>
          <p:cNvSpPr/>
          <p:nvPr/>
        </p:nvSpPr>
        <p:spPr>
          <a:xfrm>
            <a:off x="4873898" y="2418011"/>
            <a:ext cx="72183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RSA-2048</a:t>
            </a:r>
            <a:endParaRPr lang="en-US" sz="790" dirty="0"/>
          </a:p>
        </p:txBody>
      </p:sp>
      <p:sp>
        <p:nvSpPr>
          <p:cNvPr id="47" name="Text 39"/>
          <p:cNvSpPr/>
          <p:nvPr/>
        </p:nvSpPr>
        <p:spPr>
          <a:xfrm>
            <a:off x="8151912" y="2413248"/>
            <a:ext cx="44923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FF5C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256 B</a:t>
            </a:r>
            <a:endParaRPr lang="en-US" sz="790" dirty="0"/>
          </a:p>
        </p:txBody>
      </p:sp>
      <p:sp>
        <p:nvSpPr>
          <p:cNvPr id="48" name="Shape 40"/>
          <p:cNvSpPr/>
          <p:nvPr/>
        </p:nvSpPr>
        <p:spPr>
          <a:xfrm>
            <a:off x="4873005" y="2589609"/>
            <a:ext cx="358140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4977" y="2589609"/>
            <a:ext cx="466725" cy="11430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4873898" y="2815679"/>
            <a:ext cx="89790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ECDSA-P256</a:t>
            </a:r>
            <a:endParaRPr lang="en-US" sz="790" dirty="0"/>
          </a:p>
        </p:txBody>
      </p:sp>
      <p:sp>
        <p:nvSpPr>
          <p:cNvPr id="51" name="Text 42"/>
          <p:cNvSpPr/>
          <p:nvPr/>
        </p:nvSpPr>
        <p:spPr>
          <a:xfrm>
            <a:off x="8212187" y="2810917"/>
            <a:ext cx="37087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00C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65 B</a:t>
            </a:r>
            <a:endParaRPr lang="en-US" sz="790" dirty="0"/>
          </a:p>
        </p:txBody>
      </p:sp>
      <p:sp>
        <p:nvSpPr>
          <p:cNvPr id="52" name="Shape 43"/>
          <p:cNvSpPr/>
          <p:nvPr/>
        </p:nvSpPr>
        <p:spPr>
          <a:xfrm>
            <a:off x="4873005" y="2987278"/>
            <a:ext cx="358140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2893" y="2987278"/>
            <a:ext cx="180975" cy="11430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4873898" y="3213348"/>
            <a:ext cx="8809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ML-KEM-768</a:t>
            </a:r>
            <a:endParaRPr lang="en-US" sz="790" dirty="0"/>
          </a:p>
        </p:txBody>
      </p:sp>
      <p:sp>
        <p:nvSpPr>
          <p:cNvPr id="55" name="Text 45"/>
          <p:cNvSpPr/>
          <p:nvPr/>
        </p:nvSpPr>
        <p:spPr>
          <a:xfrm>
            <a:off x="8031212" y="3208586"/>
            <a:ext cx="60614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0E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1,184 B</a:t>
            </a:r>
            <a:endParaRPr lang="en-US" sz="790" dirty="0"/>
          </a:p>
        </p:txBody>
      </p:sp>
      <p:sp>
        <p:nvSpPr>
          <p:cNvPr id="56" name="Shape 46"/>
          <p:cNvSpPr/>
          <p:nvPr/>
        </p:nvSpPr>
        <p:spPr>
          <a:xfrm>
            <a:off x="4873005" y="3384947"/>
            <a:ext cx="358140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4456" y="3384947"/>
            <a:ext cx="2171700" cy="114300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4873898" y="3611017"/>
            <a:ext cx="8055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ML-DSA-65</a:t>
            </a:r>
            <a:endParaRPr lang="en-US" sz="790" dirty="0"/>
          </a:p>
        </p:txBody>
      </p:sp>
      <p:sp>
        <p:nvSpPr>
          <p:cNvPr id="59" name="Text 48"/>
          <p:cNvSpPr/>
          <p:nvPr/>
        </p:nvSpPr>
        <p:spPr>
          <a:xfrm>
            <a:off x="8031212" y="3606254"/>
            <a:ext cx="60614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7C5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1,952 B</a:t>
            </a:r>
            <a:endParaRPr lang="en-US" sz="790" dirty="0"/>
          </a:p>
        </p:txBody>
      </p:sp>
      <p:sp>
        <p:nvSpPr>
          <p:cNvPr id="60" name="Shape 49"/>
          <p:cNvSpPr/>
          <p:nvPr/>
        </p:nvSpPr>
        <p:spPr>
          <a:xfrm>
            <a:off x="4873005" y="3782616"/>
            <a:ext cx="358140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3005" y="3782616"/>
            <a:ext cx="3581400" cy="114300"/>
          </a:xfrm>
          <a:prstGeom prst="rect">
            <a:avLst/>
          </a:prstGeom>
        </p:spPr>
      </p:pic>
      <p:sp>
        <p:nvSpPr>
          <p:cNvPr id="62" name="Shape 50"/>
          <p:cNvSpPr/>
          <p:nvPr/>
        </p:nvSpPr>
        <p:spPr>
          <a:xfrm>
            <a:off x="502444" y="4630973"/>
            <a:ext cx="8139112" cy="333375"/>
          </a:xfrm>
          <a:prstGeom prst="roundRect">
            <a:avLst>
              <a:gd name="adj" fmla="val 17143"/>
            </a:avLst>
          </a:prstGeom>
          <a:solidFill>
            <a:srgbClr val="20E3B2">
              <a:alpha val="7000"/>
            </a:srgbClr>
          </a:solidFill>
          <a:ln w="4763">
            <a:solidFill>
              <a:srgbClr val="20E3B2">
                <a:alpha val="20000"/>
              </a:srgbClr>
            </a:solidFill>
            <a:prstDash val="solid"/>
          </a:ln>
        </p:spPr>
      </p:sp>
      <p:sp>
        <p:nvSpPr>
          <p:cNvPr id="63" name="Text 51"/>
          <p:cNvSpPr/>
          <p:nvPr/>
        </p:nvSpPr>
        <p:spPr>
          <a:xfrm>
            <a:off x="690488" y="4718075"/>
            <a:ext cx="931413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C9D1F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largest deployment penalty of PQC is often size, not only runtime — certificate chains and handshake payloads grow substantially.</a:t>
            </a:r>
            <a:endParaRPr lang="en-US" sz="940" dirty="0"/>
          </a:p>
        </p:txBody>
      </p:sp>
      <p:sp>
        <p:nvSpPr>
          <p:cNvPr id="64" name="Text 52"/>
          <p:cNvSpPr/>
          <p:nvPr/>
        </p:nvSpPr>
        <p:spPr>
          <a:xfrm>
            <a:off x="8304461" y="4895850"/>
            <a:ext cx="49479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19 / 20</a:t>
            </a:r>
            <a:endParaRPr lang="en-US" sz="8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558"/>
            <a:ext cx="9144000" cy="190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40035" y="292373"/>
            <a:ext cx="122323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607"/>
              </a:spcAft>
              <a:buNone/>
            </a:pPr>
            <a:r>
              <a:rPr lang="en-US" sz="790" spc="158" kern="0" dirty="0">
                <a:solidFill>
                  <a:srgbClr val="00C2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CONCLUSION</a:t>
            </a:r>
            <a:endParaRPr lang="en-US" sz="790" dirty="0"/>
          </a:p>
        </p:txBody>
      </p:sp>
      <p:sp>
        <p:nvSpPr>
          <p:cNvPr id="7" name="Text 1"/>
          <p:cNvSpPr/>
          <p:nvPr/>
        </p:nvSpPr>
        <p:spPr>
          <a:xfrm>
            <a:off x="640035" y="477515"/>
            <a:ext cx="3937129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50" b="1" spc="-49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Elegant Mathematics,</a:t>
            </a:r>
            <a:endParaRPr lang="en-US" sz="2450" dirty="0"/>
          </a:p>
        </p:txBody>
      </p:sp>
      <p:sp>
        <p:nvSpPr>
          <p:cNvPr id="8" name="Text 2"/>
          <p:cNvSpPr/>
          <p:nvPr/>
        </p:nvSpPr>
        <p:spPr>
          <a:xfrm>
            <a:off x="640035" y="825698"/>
            <a:ext cx="3855192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50" b="1" spc="-49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Necessary Transition</a:t>
            </a:r>
            <a:endParaRPr lang="en-US" sz="2450" dirty="0"/>
          </a:p>
        </p:txBody>
      </p:sp>
      <p:sp>
        <p:nvSpPr>
          <p:cNvPr id="9" name="Shape 3"/>
          <p:cNvSpPr/>
          <p:nvPr/>
        </p:nvSpPr>
        <p:spPr>
          <a:xfrm>
            <a:off x="640556" y="1413904"/>
            <a:ext cx="7862887" cy="842963"/>
          </a:xfrm>
          <a:prstGeom prst="roundRect">
            <a:avLst>
              <a:gd name="adj" fmla="val 9040"/>
            </a:avLst>
          </a:prstGeom>
          <a:solidFill>
            <a:srgbClr val="00C2FF">
              <a:alpha val="8000"/>
            </a:srgbClr>
          </a:solidFill>
          <a:ln w="4763">
            <a:solidFill>
              <a:srgbClr val="00C2FF">
                <a:alpha val="2500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874440" y="1562695"/>
            <a:ext cx="290513" cy="290513"/>
          </a:xfrm>
          <a:prstGeom prst="ellipse">
            <a:avLst/>
          </a:prstGeom>
          <a:solidFill>
            <a:srgbClr val="00C2FF">
              <a:alpha val="15000"/>
            </a:srgbClr>
          </a:solidFill>
          <a:ln w="9525">
            <a:solidFill>
              <a:srgbClr val="00C2FF">
                <a:alpha val="55000"/>
              </a:srgbClr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992981" y="1614636"/>
            <a:ext cx="1265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C2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</a:t>
            </a:r>
            <a:endParaRPr lang="en-US" sz="1080" dirty="0"/>
          </a:p>
        </p:txBody>
      </p:sp>
      <p:sp>
        <p:nvSpPr>
          <p:cNvPr id="12" name="Text 6"/>
          <p:cNvSpPr/>
          <p:nvPr/>
        </p:nvSpPr>
        <p:spPr>
          <a:xfrm>
            <a:off x="1348829" y="1531962"/>
            <a:ext cx="71600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150" b="1" dirty="0">
                <a:solidFill>
                  <a:srgbClr val="00C2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Classical cryptography remains mathematically elegant and operationally mature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1348829" y="1781919"/>
            <a:ext cx="851517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RSA and ECDSA are well-studied, rigorously deployed, and will remain secure in hybrid deployments for the foreseeable future.</a:t>
            </a:r>
            <a:endParaRPr lang="en-US" sz="860" dirty="0"/>
          </a:p>
        </p:txBody>
      </p:sp>
      <p:sp>
        <p:nvSpPr>
          <p:cNvPr id="14" name="Shape 8"/>
          <p:cNvSpPr/>
          <p:nvPr/>
        </p:nvSpPr>
        <p:spPr>
          <a:xfrm>
            <a:off x="640556" y="2369827"/>
            <a:ext cx="7862887" cy="847725"/>
          </a:xfrm>
          <a:prstGeom prst="roundRect">
            <a:avLst>
              <a:gd name="adj" fmla="val 8989"/>
            </a:avLst>
          </a:prstGeom>
          <a:solidFill>
            <a:srgbClr val="FF5C5C">
              <a:alpha val="7000"/>
            </a:srgbClr>
          </a:solidFill>
          <a:ln w="4763">
            <a:solidFill>
              <a:srgbClr val="FF5C5C">
                <a:alpha val="2500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74440" y="2520776"/>
            <a:ext cx="290513" cy="290513"/>
          </a:xfrm>
          <a:prstGeom prst="ellipse">
            <a:avLst/>
          </a:prstGeom>
          <a:solidFill>
            <a:srgbClr val="FF5C5C">
              <a:alpha val="15000"/>
            </a:srgbClr>
          </a:solidFill>
          <a:ln w="9525">
            <a:solidFill>
              <a:srgbClr val="FF5C5C">
                <a:alpha val="55000"/>
              </a:srgbClr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966341" y="2572717"/>
            <a:ext cx="1958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5C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</a:t>
            </a:r>
            <a:endParaRPr lang="en-US" sz="1080" dirty="0"/>
          </a:p>
        </p:txBody>
      </p:sp>
      <p:sp>
        <p:nvSpPr>
          <p:cNvPr id="17" name="Text 11"/>
          <p:cNvSpPr/>
          <p:nvPr/>
        </p:nvSpPr>
        <p:spPr>
          <a:xfrm>
            <a:off x="1348829" y="2490043"/>
            <a:ext cx="692256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150" b="1" dirty="0">
                <a:solidFill>
                  <a:srgbClr val="FF5C5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Post-quantum cryptography is necessary because the threat model is changing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1348829" y="2740000"/>
            <a:ext cx="8666760" cy="319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6"/>
              </a:lnSpc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Shor's algorithm changes the threat irreversibly. NIST standardisation of ML-KEM and ML-DSA marks the beginning of a mandated</a:t>
            </a:r>
            <a:endParaRPr lang="en-US" sz="860" dirty="0"/>
          </a:p>
          <a:p>
            <a:pPr algn="l" indent="0" marL="0">
              <a:lnSpc>
                <a:spcPts val="1426"/>
              </a:lnSpc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transition, not a speculative one.</a:t>
            </a:r>
            <a:endParaRPr lang="en-US" sz="860" dirty="0"/>
          </a:p>
        </p:txBody>
      </p:sp>
      <p:sp>
        <p:nvSpPr>
          <p:cNvPr id="19" name="Shape 13"/>
          <p:cNvSpPr/>
          <p:nvPr/>
        </p:nvSpPr>
        <p:spPr>
          <a:xfrm>
            <a:off x="640556" y="3330513"/>
            <a:ext cx="7862887" cy="842963"/>
          </a:xfrm>
          <a:prstGeom prst="roundRect">
            <a:avLst>
              <a:gd name="adj" fmla="val 9040"/>
            </a:avLst>
          </a:prstGeom>
          <a:solidFill>
            <a:srgbClr val="20E3B2">
              <a:alpha val="7000"/>
            </a:srgbClr>
          </a:solidFill>
          <a:ln w="4763">
            <a:solidFill>
              <a:srgbClr val="20E3B2">
                <a:alpha val="25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74440" y="3479304"/>
            <a:ext cx="290513" cy="290513"/>
          </a:xfrm>
          <a:prstGeom prst="ellipse">
            <a:avLst/>
          </a:prstGeom>
          <a:solidFill>
            <a:srgbClr val="20E3B2">
              <a:alpha val="15000"/>
            </a:srgbClr>
          </a:solidFill>
          <a:ln w="9525">
            <a:solidFill>
              <a:srgbClr val="20E3B2">
                <a:alpha val="5500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39626" y="3531245"/>
            <a:ext cx="26523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E3B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III</a:t>
            </a:r>
            <a:endParaRPr lang="en-US" sz="1080" dirty="0"/>
          </a:p>
        </p:txBody>
      </p:sp>
      <p:sp>
        <p:nvSpPr>
          <p:cNvPr id="22" name="Text 16"/>
          <p:cNvSpPr/>
          <p:nvPr/>
        </p:nvSpPr>
        <p:spPr>
          <a:xfrm>
            <a:off x="1348829" y="3448571"/>
            <a:ext cx="794818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324"/>
              </a:spcAft>
              <a:buNone/>
            </a:pPr>
            <a:r>
              <a:rPr lang="en-US" sz="1150" b="1" dirty="0">
                <a:solidFill>
                  <a:srgbClr val="20E3B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future lies in careful migration across security, performance, and protocol integration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348829" y="3698528"/>
            <a:ext cx="8963166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C9D1F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Bandwidth, latency, certificate chains, and protocol design all change. The challenge is systems engineering as much as mathematics.</a:t>
            </a:r>
            <a:endParaRPr lang="en-US" sz="860" dirty="0"/>
          </a:p>
        </p:txBody>
      </p:sp>
      <p:sp>
        <p:nvSpPr>
          <p:cNvPr id="24" name="Shape 18"/>
          <p:cNvSpPr/>
          <p:nvPr/>
        </p:nvSpPr>
        <p:spPr>
          <a:xfrm>
            <a:off x="640556" y="4328889"/>
            <a:ext cx="7862887" cy="557213"/>
          </a:xfrm>
          <a:prstGeom prst="rect">
            <a:avLst/>
          </a:prstGeom>
          <a:ln/>
        </p:spPr>
      </p:sp>
      <p:sp>
        <p:nvSpPr>
          <p:cNvPr id="25" name="Text 19"/>
          <p:cNvSpPr/>
          <p:nvPr/>
        </p:nvSpPr>
        <p:spPr>
          <a:xfrm>
            <a:off x="640035" y="4476304"/>
            <a:ext cx="7534148" cy="388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040" i="1" dirty="0">
                <a:solidFill>
                  <a:srgbClr val="C9D1F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"The real challenge is not inventing stronger mathematics alone — it is engineering the transition</a:t>
            </a:r>
            <a:endParaRPr lang="en-US" sz="1040" dirty="0"/>
          </a:p>
          <a:p>
            <a:pPr algn="l" indent="0" marL="0">
              <a:lnSpc>
                <a:spcPts val="1671"/>
              </a:lnSpc>
              <a:buNone/>
            </a:pPr>
            <a:r>
              <a:rPr lang="en-US" sz="1040" i="1" dirty="0">
                <a:solidFill>
                  <a:srgbClr val="C9D1F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responsibly."</a:t>
            </a:r>
            <a:endParaRPr lang="en-US" sz="104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556" y="4328889"/>
            <a:ext cx="7862887" cy="55721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64500" y="4895850"/>
            <a:ext cx="54674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4E57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 / 20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2026-07-14T18:35:53Z</dcterms:created>
  <dcterms:modified xsi:type="dcterms:W3CDTF">2026-07-14T18:35:53Z</dcterms:modified>
</cp:coreProperties>
</file>